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Inter SemiBold"/>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SemiBold-regular.fntdata"/><Relationship Id="rId11" Type="http://schemas.openxmlformats.org/officeDocument/2006/relationships/slide" Target="slides/slide7.xml"/><Relationship Id="rId22" Type="http://schemas.openxmlformats.org/officeDocument/2006/relationships/font" Target="fonts/InterSemiBold-italic.fntdata"/><Relationship Id="rId10" Type="http://schemas.openxmlformats.org/officeDocument/2006/relationships/slide" Target="slides/slide6.xml"/><Relationship Id="rId21" Type="http://schemas.openxmlformats.org/officeDocument/2006/relationships/font" Target="fonts/InterSemiBold-bold.fntdata"/><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font" Target="fonts/InterSemiBold-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b19c32d445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g3b19c32d445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18e87cbab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b18e87cbab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b18e87cbab_0_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3b18e87cbab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18e87cbab_0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3b18e87cbab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18e87cbab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3b18e87cbab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b18e87cbab_1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3b18e87cbab_1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b148566371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3b148566371_1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b148566371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3b148566371_1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143ab5bc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b143ab5bcc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b148566371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g3b148566371_1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b143ab5bcc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g3b143ab5bcc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b18e87cbab_0_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3b18e87cbab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b19c32d44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g3b19c32d44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5.jpg"/><Relationship Id="rId9"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19.jpg"/><Relationship Id="rId7" Type="http://schemas.openxmlformats.org/officeDocument/2006/relationships/image" Target="../media/image9.jpg"/><Relationship Id="rId8"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0.png"/><Relationship Id="rId10" Type="http://schemas.openxmlformats.org/officeDocument/2006/relationships/image" Target="../media/image15.png"/><Relationship Id="rId9" Type="http://schemas.openxmlformats.org/officeDocument/2006/relationships/image" Target="../media/image11.png"/><Relationship Id="rId5" Type="http://schemas.openxmlformats.org/officeDocument/2006/relationships/image" Target="../media/image1.png"/><Relationship Id="rId6" Type="http://schemas.openxmlformats.org/officeDocument/2006/relationships/image" Target="../media/image12.jpg"/><Relationship Id="rId7" Type="http://schemas.openxmlformats.org/officeDocument/2006/relationships/image" Target="../media/image16.jpg"/><Relationship Id="rId8"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32.png"/><Relationship Id="rId6" Type="http://schemas.openxmlformats.org/officeDocument/2006/relationships/image" Target="../media/image26.png"/><Relationship Id="rId7"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9.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1.png"/><Relationship Id="rId9" Type="http://schemas.openxmlformats.org/officeDocument/2006/relationships/image" Target="../media/image10.png"/><Relationship Id="rId5" Type="http://schemas.openxmlformats.org/officeDocument/2006/relationships/image" Target="../media/image30.png"/><Relationship Id="rId6" Type="http://schemas.openxmlformats.org/officeDocument/2006/relationships/image" Target="../media/image24.png"/><Relationship Id="rId7" Type="http://schemas.openxmlformats.org/officeDocument/2006/relationships/image" Target="../media/image17.png"/><Relationship Id="rId8"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8.png"/><Relationship Id="rId11" Type="http://schemas.openxmlformats.org/officeDocument/2006/relationships/image" Target="../media/image10.png"/><Relationship Id="rId10" Type="http://schemas.openxmlformats.org/officeDocument/2006/relationships/image" Target="../media/image22.png"/><Relationship Id="rId9" Type="http://schemas.openxmlformats.org/officeDocument/2006/relationships/image" Target="../media/image34.png"/><Relationship Id="rId5" Type="http://schemas.openxmlformats.org/officeDocument/2006/relationships/image" Target="../media/image25.png"/><Relationship Id="rId6" Type="http://schemas.openxmlformats.org/officeDocument/2006/relationships/image" Target="../media/image49.png"/><Relationship Id="rId7" Type="http://schemas.openxmlformats.org/officeDocument/2006/relationships/image" Target="../media/image28.png"/><Relationship Id="rId8"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39.png"/><Relationship Id="rId10" Type="http://schemas.openxmlformats.org/officeDocument/2006/relationships/image" Target="../media/image40.png"/><Relationship Id="rId9" Type="http://schemas.openxmlformats.org/officeDocument/2006/relationships/image" Target="../media/image31.png"/><Relationship Id="rId5" Type="http://schemas.openxmlformats.org/officeDocument/2006/relationships/image" Target="../media/image35.png"/><Relationship Id="rId6" Type="http://schemas.openxmlformats.org/officeDocument/2006/relationships/image" Target="../media/image23.png"/><Relationship Id="rId7" Type="http://schemas.openxmlformats.org/officeDocument/2006/relationships/image" Target="../media/image37.png"/><Relationship Id="rId8" Type="http://schemas.openxmlformats.org/officeDocument/2006/relationships/image" Target="../media/image4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33.jpg"/><Relationship Id="rId5" Type="http://schemas.openxmlformats.org/officeDocument/2006/relationships/hyperlink" Target="http://drive.google.com/file/d/1-x0cANts8IlHLnHcZSGTylTTkeVHxH5_/view" TargetMode="External"/><Relationship Id="rId6" Type="http://schemas.openxmlformats.org/officeDocument/2006/relationships/image" Target="../media/image44.jpg"/><Relationship Id="rId7" Type="http://schemas.openxmlformats.org/officeDocument/2006/relationships/image" Target="../media/image4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38.png"/><Relationship Id="rId10" Type="http://schemas.openxmlformats.org/officeDocument/2006/relationships/image" Target="../media/image48.png"/><Relationship Id="rId9" Type="http://schemas.openxmlformats.org/officeDocument/2006/relationships/image" Target="../media/image45.png"/><Relationship Id="rId5" Type="http://schemas.openxmlformats.org/officeDocument/2006/relationships/image" Target="../media/image47.png"/><Relationship Id="rId6" Type="http://schemas.openxmlformats.org/officeDocument/2006/relationships/image" Target="../media/image51.png"/><Relationship Id="rId7" Type="http://schemas.openxmlformats.org/officeDocument/2006/relationships/image" Target="../media/image43.png"/><Relationship Id="rId8" Type="http://schemas.openxmlformats.org/officeDocument/2006/relationships/image" Target="../media/image4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0" l="0" r="0" t="0"/>
          <a:stretch/>
        </p:blipFill>
        <p:spPr>
          <a:xfrm>
            <a:off x="844500" y="795925"/>
            <a:ext cx="721025" cy="759375"/>
          </a:xfrm>
          <a:prstGeom prst="rect">
            <a:avLst/>
          </a:prstGeom>
          <a:noFill/>
          <a:ln>
            <a:noFill/>
          </a:ln>
        </p:spPr>
      </p:pic>
      <p:sp>
        <p:nvSpPr>
          <p:cNvPr id="55" name="Google Shape;55;p13"/>
          <p:cNvSpPr txBox="1"/>
          <p:nvPr>
            <p:ph type="ctrTitle"/>
          </p:nvPr>
        </p:nvSpPr>
        <p:spPr>
          <a:xfrm>
            <a:off x="844500" y="2225275"/>
            <a:ext cx="7271700" cy="924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fr" sz="4000">
                <a:solidFill>
                  <a:srgbClr val="0E3449"/>
                </a:solidFill>
                <a:latin typeface="Inter SemiBold"/>
                <a:ea typeface="Inter SemiBold"/>
                <a:cs typeface="Inter SemiBold"/>
                <a:sym typeface="Inter SemiBold"/>
              </a:rPr>
              <a:t>Projet Jeux Olympiques</a:t>
            </a:r>
            <a:endParaRPr sz="4000">
              <a:solidFill>
                <a:srgbClr val="0E3449"/>
              </a:solidFill>
              <a:latin typeface="Inter SemiBold"/>
              <a:ea typeface="Inter SemiBold"/>
              <a:cs typeface="Inter SemiBold"/>
              <a:sym typeface="Inter SemiBold"/>
            </a:endParaRPr>
          </a:p>
        </p:txBody>
      </p:sp>
      <p:sp>
        <p:nvSpPr>
          <p:cNvPr id="56" name="Google Shape;56;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
        <p:nvSpPr>
          <p:cNvPr id="57" name="Google Shape;57;p13"/>
          <p:cNvSpPr txBox="1"/>
          <p:nvPr/>
        </p:nvSpPr>
        <p:spPr>
          <a:xfrm>
            <a:off x="617850" y="2294875"/>
            <a:ext cx="7854600" cy="75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58" name="Google Shape;58;p13"/>
          <p:cNvSpPr txBox="1"/>
          <p:nvPr/>
        </p:nvSpPr>
        <p:spPr>
          <a:xfrm>
            <a:off x="733850" y="4256150"/>
            <a:ext cx="1829100" cy="66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1300">
                <a:solidFill>
                  <a:schemeClr val="dk2"/>
                </a:solidFill>
              </a:rPr>
              <a:t>Stéphanie </a:t>
            </a:r>
            <a:endParaRPr sz="1300">
              <a:solidFill>
                <a:schemeClr val="dk2"/>
              </a:solidFill>
            </a:endParaRPr>
          </a:p>
          <a:p>
            <a:pPr indent="0" lvl="0" marL="0" rtl="0" algn="ctr">
              <a:spcBef>
                <a:spcPts val="0"/>
              </a:spcBef>
              <a:spcAft>
                <a:spcPts val="0"/>
              </a:spcAft>
              <a:buNone/>
            </a:pPr>
            <a:r>
              <a:rPr lang="fr" sz="1300">
                <a:solidFill>
                  <a:schemeClr val="dk2"/>
                </a:solidFill>
              </a:rPr>
              <a:t>BRETTON</a:t>
            </a:r>
            <a:endParaRPr sz="1300">
              <a:solidFill>
                <a:schemeClr val="dk2"/>
              </a:solidFill>
            </a:endParaRPr>
          </a:p>
        </p:txBody>
      </p:sp>
      <p:sp>
        <p:nvSpPr>
          <p:cNvPr id="59" name="Google Shape;59;p13"/>
          <p:cNvSpPr txBox="1"/>
          <p:nvPr/>
        </p:nvSpPr>
        <p:spPr>
          <a:xfrm>
            <a:off x="2437550" y="4256150"/>
            <a:ext cx="2034900" cy="66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1300">
                <a:solidFill>
                  <a:schemeClr val="dk2"/>
                </a:solidFill>
              </a:rPr>
              <a:t>Pierre-Alexandre </a:t>
            </a:r>
            <a:endParaRPr sz="1300">
              <a:solidFill>
                <a:schemeClr val="dk2"/>
              </a:solidFill>
            </a:endParaRPr>
          </a:p>
          <a:p>
            <a:pPr indent="0" lvl="0" marL="0" rtl="0" algn="ctr">
              <a:spcBef>
                <a:spcPts val="0"/>
              </a:spcBef>
              <a:spcAft>
                <a:spcPts val="0"/>
              </a:spcAft>
              <a:buNone/>
            </a:pPr>
            <a:r>
              <a:rPr lang="fr" sz="1300">
                <a:solidFill>
                  <a:schemeClr val="dk2"/>
                </a:solidFill>
              </a:rPr>
              <a:t>PAGET</a:t>
            </a:r>
            <a:endParaRPr sz="1300">
              <a:solidFill>
                <a:schemeClr val="dk2"/>
              </a:solidFill>
            </a:endParaRPr>
          </a:p>
        </p:txBody>
      </p:sp>
      <p:sp>
        <p:nvSpPr>
          <p:cNvPr id="60" name="Google Shape;60;p13"/>
          <p:cNvSpPr txBox="1"/>
          <p:nvPr/>
        </p:nvSpPr>
        <p:spPr>
          <a:xfrm>
            <a:off x="4529550" y="4256150"/>
            <a:ext cx="1829100" cy="66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1300">
                <a:solidFill>
                  <a:schemeClr val="dk2"/>
                </a:solidFill>
              </a:rPr>
              <a:t>Maxime</a:t>
            </a:r>
            <a:endParaRPr sz="1300">
              <a:solidFill>
                <a:schemeClr val="dk2"/>
              </a:solidFill>
            </a:endParaRPr>
          </a:p>
          <a:p>
            <a:pPr indent="0" lvl="0" marL="0" rtl="0" algn="ctr">
              <a:spcBef>
                <a:spcPts val="0"/>
              </a:spcBef>
              <a:spcAft>
                <a:spcPts val="0"/>
              </a:spcAft>
              <a:buNone/>
            </a:pPr>
            <a:r>
              <a:rPr lang="fr" sz="1300">
                <a:solidFill>
                  <a:schemeClr val="dk2"/>
                </a:solidFill>
              </a:rPr>
              <a:t>BREUILLARD</a:t>
            </a:r>
            <a:endParaRPr sz="1300">
              <a:solidFill>
                <a:schemeClr val="dk2"/>
              </a:solidFill>
            </a:endParaRPr>
          </a:p>
        </p:txBody>
      </p:sp>
      <p:sp>
        <p:nvSpPr>
          <p:cNvPr id="61" name="Google Shape;61;p13"/>
          <p:cNvSpPr txBox="1"/>
          <p:nvPr/>
        </p:nvSpPr>
        <p:spPr>
          <a:xfrm>
            <a:off x="6445975" y="4256150"/>
            <a:ext cx="1829100" cy="66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1300">
                <a:solidFill>
                  <a:schemeClr val="dk2"/>
                </a:solidFill>
              </a:rPr>
              <a:t>Simon</a:t>
            </a:r>
            <a:endParaRPr sz="1300">
              <a:solidFill>
                <a:schemeClr val="dk2"/>
              </a:solidFill>
            </a:endParaRPr>
          </a:p>
          <a:p>
            <a:pPr indent="0" lvl="0" marL="0" rtl="0" algn="ctr">
              <a:spcBef>
                <a:spcPts val="0"/>
              </a:spcBef>
              <a:spcAft>
                <a:spcPts val="0"/>
              </a:spcAft>
              <a:buNone/>
            </a:pPr>
            <a:r>
              <a:rPr lang="fr" sz="1300">
                <a:solidFill>
                  <a:schemeClr val="dk2"/>
                </a:solidFill>
              </a:rPr>
              <a:t>CARTIGNY</a:t>
            </a:r>
            <a:endParaRPr sz="1300">
              <a:solidFill>
                <a:schemeClr val="dk2"/>
              </a:solidFill>
            </a:endParaRPr>
          </a:p>
        </p:txBody>
      </p:sp>
      <p:pic>
        <p:nvPicPr>
          <p:cNvPr id="62" name="Google Shape;62;p13" title="1757535878566.jpg"/>
          <p:cNvPicPr preferRelativeResize="0"/>
          <p:nvPr/>
        </p:nvPicPr>
        <p:blipFill rotWithShape="1">
          <a:blip r:embed="rId4">
            <a:alphaModFix/>
          </a:blip>
          <a:srcRect b="37036" l="117451" r="-68899" t="14429"/>
          <a:stretch/>
        </p:blipFill>
        <p:spPr>
          <a:xfrm>
            <a:off x="1158350" y="3331550"/>
            <a:ext cx="980100" cy="924600"/>
          </a:xfrm>
          <a:prstGeom prst="ellipse">
            <a:avLst/>
          </a:prstGeom>
          <a:noFill/>
          <a:ln>
            <a:noFill/>
          </a:ln>
        </p:spPr>
      </p:pic>
      <p:pic>
        <p:nvPicPr>
          <p:cNvPr id="63" name="Google Shape;63;p13" title="1757535878566.jpg"/>
          <p:cNvPicPr preferRelativeResize="0"/>
          <p:nvPr/>
        </p:nvPicPr>
        <p:blipFill>
          <a:blip r:embed="rId4">
            <a:alphaModFix/>
          </a:blip>
          <a:stretch>
            <a:fillRect/>
          </a:stretch>
        </p:blipFill>
        <p:spPr>
          <a:xfrm>
            <a:off x="1186100" y="3331550"/>
            <a:ext cx="924600" cy="924600"/>
          </a:xfrm>
          <a:prstGeom prst="ellipse">
            <a:avLst/>
          </a:prstGeom>
          <a:noFill/>
          <a:ln>
            <a:noFill/>
          </a:ln>
        </p:spPr>
      </p:pic>
      <p:pic>
        <p:nvPicPr>
          <p:cNvPr id="64" name="Google Shape;64;p13" title="1758895798787.jpg"/>
          <p:cNvPicPr preferRelativeResize="0"/>
          <p:nvPr/>
        </p:nvPicPr>
        <p:blipFill>
          <a:blip r:embed="rId5">
            <a:alphaModFix/>
          </a:blip>
          <a:stretch>
            <a:fillRect/>
          </a:stretch>
        </p:blipFill>
        <p:spPr>
          <a:xfrm>
            <a:off x="2992700" y="3331550"/>
            <a:ext cx="924600" cy="924600"/>
          </a:xfrm>
          <a:prstGeom prst="ellipse">
            <a:avLst/>
          </a:prstGeom>
          <a:noFill/>
          <a:ln>
            <a:noFill/>
          </a:ln>
        </p:spPr>
      </p:pic>
      <p:pic>
        <p:nvPicPr>
          <p:cNvPr id="65" name="Google Shape;65;p13" title="1564208038449.jpg"/>
          <p:cNvPicPr preferRelativeResize="0"/>
          <p:nvPr/>
        </p:nvPicPr>
        <p:blipFill>
          <a:blip r:embed="rId6">
            <a:alphaModFix/>
          </a:blip>
          <a:stretch>
            <a:fillRect/>
          </a:stretch>
        </p:blipFill>
        <p:spPr>
          <a:xfrm>
            <a:off x="4981800" y="3331550"/>
            <a:ext cx="924600" cy="924600"/>
          </a:xfrm>
          <a:prstGeom prst="ellipse">
            <a:avLst/>
          </a:prstGeom>
          <a:noFill/>
          <a:ln>
            <a:noFill/>
          </a:ln>
        </p:spPr>
      </p:pic>
      <p:pic>
        <p:nvPicPr>
          <p:cNvPr id="66" name="Google Shape;66;p13" title="1760083308479.jpg"/>
          <p:cNvPicPr preferRelativeResize="0"/>
          <p:nvPr/>
        </p:nvPicPr>
        <p:blipFill>
          <a:blip r:embed="rId7">
            <a:alphaModFix/>
          </a:blip>
          <a:stretch>
            <a:fillRect/>
          </a:stretch>
        </p:blipFill>
        <p:spPr>
          <a:xfrm>
            <a:off x="6898225" y="3331550"/>
            <a:ext cx="924600" cy="924600"/>
          </a:xfrm>
          <a:prstGeom prst="ellipse">
            <a:avLst/>
          </a:prstGeom>
          <a:noFill/>
          <a:ln>
            <a:noFill/>
          </a:ln>
        </p:spPr>
      </p:pic>
      <p:pic>
        <p:nvPicPr>
          <p:cNvPr id="67" name="Google Shape;67;p13" title="Olympic_flag.svg.png"/>
          <p:cNvPicPr preferRelativeResize="0"/>
          <p:nvPr/>
        </p:nvPicPr>
        <p:blipFill>
          <a:blip r:embed="rId8">
            <a:alphaModFix/>
          </a:blip>
          <a:stretch>
            <a:fillRect/>
          </a:stretch>
        </p:blipFill>
        <p:spPr>
          <a:xfrm>
            <a:off x="3056750" y="259150"/>
            <a:ext cx="2847200" cy="1901925"/>
          </a:xfrm>
          <a:prstGeom prst="rect">
            <a:avLst/>
          </a:prstGeom>
          <a:noFill/>
          <a:ln>
            <a:noFill/>
          </a:ln>
        </p:spPr>
      </p:pic>
      <p:pic>
        <p:nvPicPr>
          <p:cNvPr id="68" name="Google Shape;68;p13"/>
          <p:cNvPicPr preferRelativeResize="0"/>
          <p:nvPr/>
        </p:nvPicPr>
        <p:blipFill rotWithShape="1">
          <a:blip r:embed="rId9">
            <a:alphaModFix/>
          </a:blip>
          <a:srcRect b="0" l="0" r="0" t="0"/>
          <a:stretch/>
        </p:blipFill>
        <p:spPr>
          <a:xfrm>
            <a:off x="467225" y="495977"/>
            <a:ext cx="576900" cy="38590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14"/>
          <p:cNvPicPr preferRelativeResize="0"/>
          <p:nvPr/>
        </p:nvPicPr>
        <p:blipFill rotWithShape="1">
          <a:blip r:embed="rId3">
            <a:alphaModFix/>
          </a:blip>
          <a:srcRect b="0" l="0" r="0" t="0"/>
          <a:stretch/>
        </p:blipFill>
        <p:spPr>
          <a:xfrm>
            <a:off x="213300" y="183827"/>
            <a:ext cx="576900" cy="385904"/>
          </a:xfrm>
          <a:prstGeom prst="rect">
            <a:avLst/>
          </a:prstGeom>
          <a:noFill/>
          <a:ln>
            <a:noFill/>
          </a:ln>
        </p:spPr>
      </p:pic>
      <p:sp>
        <p:nvSpPr>
          <p:cNvPr id="74" name="Google Shape;74;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
        <p:nvSpPr>
          <p:cNvPr id="75" name="Google Shape;75;p14"/>
          <p:cNvSpPr/>
          <p:nvPr/>
        </p:nvSpPr>
        <p:spPr>
          <a:xfrm>
            <a:off x="990150" y="77975"/>
            <a:ext cx="7349700" cy="53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fr" sz="1800">
                <a:solidFill>
                  <a:srgbClr val="0E3449"/>
                </a:solidFill>
                <a:latin typeface="Inter SemiBold"/>
                <a:ea typeface="Inter SemiBold"/>
                <a:cs typeface="Inter SemiBold"/>
                <a:sym typeface="Inter SemiBold"/>
              </a:rPr>
              <a:t>Programme</a:t>
            </a:r>
            <a:endParaRPr b="1" sz="1800"/>
          </a:p>
        </p:txBody>
      </p:sp>
      <p:sp>
        <p:nvSpPr>
          <p:cNvPr id="76" name="Google Shape;76;p14"/>
          <p:cNvSpPr/>
          <p:nvPr/>
        </p:nvSpPr>
        <p:spPr>
          <a:xfrm>
            <a:off x="990150" y="857250"/>
            <a:ext cx="7482300" cy="4020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4"/>
          <p:cNvSpPr txBox="1"/>
          <p:nvPr/>
        </p:nvSpPr>
        <p:spPr>
          <a:xfrm>
            <a:off x="1501850" y="1355650"/>
            <a:ext cx="6366300" cy="33075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2"/>
              </a:buClr>
              <a:buSzPts val="1500"/>
              <a:buChar char="●"/>
            </a:pPr>
            <a:r>
              <a:rPr lang="fr">
                <a:solidFill>
                  <a:schemeClr val="dk2"/>
                </a:solidFill>
              </a:rPr>
              <a:t>Pourquoi les Jeux Olympiques ? </a:t>
            </a:r>
            <a:endParaRPr sz="1500">
              <a:solidFill>
                <a:schemeClr val="dk2"/>
              </a:solidFill>
              <a:highlight>
                <a:srgbClr val="EFEFEF"/>
              </a:highlight>
            </a:endParaRPr>
          </a:p>
          <a:p>
            <a:pPr indent="0" lvl="0" marL="457200" rtl="0" algn="just">
              <a:spcBef>
                <a:spcPts val="0"/>
              </a:spcBef>
              <a:spcAft>
                <a:spcPts val="0"/>
              </a:spcAft>
              <a:buNone/>
            </a:pPr>
            <a:r>
              <a:t/>
            </a:r>
            <a:endParaRPr sz="1500">
              <a:solidFill>
                <a:schemeClr val="dk2"/>
              </a:solidFill>
              <a:highlight>
                <a:srgbClr val="EFEFEF"/>
              </a:highlight>
            </a:endParaRPr>
          </a:p>
          <a:p>
            <a:pPr indent="-323850" lvl="0" marL="457200" rtl="0" algn="l">
              <a:spcBef>
                <a:spcPts val="0"/>
              </a:spcBef>
              <a:spcAft>
                <a:spcPts val="0"/>
              </a:spcAft>
              <a:buClr>
                <a:schemeClr val="dk2"/>
              </a:buClr>
              <a:buSzPts val="1500"/>
              <a:buChar char="●"/>
            </a:pPr>
            <a:r>
              <a:rPr lang="fr">
                <a:solidFill>
                  <a:schemeClr val="dk2"/>
                </a:solidFill>
              </a:rPr>
              <a:t>Présentation du Dataset (Kaggle, scraping).</a:t>
            </a:r>
            <a:endParaRPr>
              <a:solidFill>
                <a:schemeClr val="dk2"/>
              </a:solidFill>
            </a:endParaRPr>
          </a:p>
          <a:p>
            <a:pPr indent="0" lvl="0" marL="45720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fr">
                <a:solidFill>
                  <a:schemeClr val="dk2"/>
                </a:solidFill>
              </a:rPr>
              <a:t>EDA, visualisations pour explorer les pistes.</a:t>
            </a:r>
            <a:endParaRPr>
              <a:solidFill>
                <a:schemeClr val="dk2"/>
              </a:solidFill>
            </a:endParaRPr>
          </a:p>
          <a:p>
            <a:pPr indent="0" lvl="0" marL="45720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fr">
                <a:solidFill>
                  <a:schemeClr val="dk2"/>
                </a:solidFill>
              </a:rPr>
              <a:t>Schéma.</a:t>
            </a:r>
            <a:endParaRPr>
              <a:solidFill>
                <a:schemeClr val="dk2"/>
              </a:solidFill>
            </a:endParaRPr>
          </a:p>
          <a:p>
            <a:pPr indent="0" lvl="0" marL="457200" rtl="0" algn="just">
              <a:spcBef>
                <a:spcPts val="0"/>
              </a:spcBef>
              <a:spcAft>
                <a:spcPts val="0"/>
              </a:spcAft>
              <a:buNone/>
            </a:pPr>
            <a:r>
              <a:t/>
            </a:r>
            <a:endParaRPr sz="1500">
              <a:solidFill>
                <a:schemeClr val="dk2"/>
              </a:solidFill>
              <a:highlight>
                <a:srgbClr val="EFEFEF"/>
              </a:highlight>
            </a:endParaRPr>
          </a:p>
          <a:p>
            <a:pPr indent="-323850" lvl="0" marL="457200" rtl="0" algn="l">
              <a:spcBef>
                <a:spcPts val="0"/>
              </a:spcBef>
              <a:spcAft>
                <a:spcPts val="0"/>
              </a:spcAft>
              <a:buClr>
                <a:schemeClr val="dk2"/>
              </a:buClr>
              <a:buSzPts val="1500"/>
              <a:buChar char="●"/>
            </a:pPr>
            <a:r>
              <a:rPr lang="fr">
                <a:solidFill>
                  <a:schemeClr val="dk2"/>
                </a:solidFill>
              </a:rPr>
              <a:t>Dashboard : </a:t>
            </a:r>
            <a:r>
              <a:rPr lang="fr">
                <a:solidFill>
                  <a:schemeClr val="dk2"/>
                </a:solidFill>
              </a:rPr>
              <a:t>Analyse multidimensionnelle des performances olympiques.  Étude croisée des succès sportifs, évolution des disciplines et intégrité des athlètes à travers les 63 éditions.</a:t>
            </a:r>
            <a:endParaRPr>
              <a:solidFill>
                <a:schemeClr val="dk2"/>
              </a:solidFill>
            </a:endParaRPr>
          </a:p>
          <a:p>
            <a:pPr indent="0" lvl="0" marL="45720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fr" u="sng">
                <a:solidFill>
                  <a:schemeClr val="dk2"/>
                </a:solidFill>
              </a:rPr>
              <a:t>Conclusion / Ouverture </a:t>
            </a:r>
            <a:r>
              <a:rPr lang="fr">
                <a:solidFill>
                  <a:schemeClr val="dk2"/>
                </a:solidFill>
              </a:rPr>
              <a:t> : Les dérives budgétaires et la viabilité du modèle économique du CIO </a:t>
            </a:r>
            <a:endParaRPr>
              <a:solidFill>
                <a:schemeClr val="dk2"/>
              </a:solidFill>
            </a:endParaRPr>
          </a:p>
        </p:txBody>
      </p:sp>
      <p:cxnSp>
        <p:nvCxnSpPr>
          <p:cNvPr id="78" name="Google Shape;78;p14"/>
          <p:cNvCxnSpPr/>
          <p:nvPr/>
        </p:nvCxnSpPr>
        <p:spPr>
          <a:xfrm>
            <a:off x="1763850" y="1601775"/>
            <a:ext cx="11700" cy="2548200"/>
          </a:xfrm>
          <a:prstGeom prst="straightConnector1">
            <a:avLst/>
          </a:prstGeom>
          <a:noFill/>
          <a:ln cap="flat" cmpd="sng" w="9525">
            <a:solidFill>
              <a:schemeClr val="dk2"/>
            </a:solidFill>
            <a:prstDash val="solid"/>
            <a:round/>
            <a:headEnd len="med" w="med" type="none"/>
            <a:tailEnd len="med" w="med" type="none"/>
          </a:ln>
        </p:spPr>
      </p:cxnSp>
      <p:pic>
        <p:nvPicPr>
          <p:cNvPr id="79" name="Google Shape;79;p14" title="2021_anneaux_olympiques_png_transparent_20210724_1834024954.png"/>
          <p:cNvPicPr preferRelativeResize="0"/>
          <p:nvPr/>
        </p:nvPicPr>
        <p:blipFill>
          <a:blip r:embed="rId4">
            <a:alphaModFix/>
          </a:blip>
          <a:stretch>
            <a:fillRect/>
          </a:stretch>
        </p:blipFill>
        <p:spPr>
          <a:xfrm>
            <a:off x="8299712" y="27926"/>
            <a:ext cx="894174" cy="63319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5"/>
          <p:cNvPicPr preferRelativeResize="0"/>
          <p:nvPr/>
        </p:nvPicPr>
        <p:blipFill rotWithShape="1">
          <a:blip r:embed="rId3">
            <a:alphaModFix/>
          </a:blip>
          <a:srcRect b="0" l="0" r="0" t="0"/>
          <a:stretch/>
        </p:blipFill>
        <p:spPr>
          <a:xfrm>
            <a:off x="213300" y="183827"/>
            <a:ext cx="576900" cy="385904"/>
          </a:xfrm>
          <a:prstGeom prst="rect">
            <a:avLst/>
          </a:prstGeom>
          <a:noFill/>
          <a:ln>
            <a:noFill/>
          </a:ln>
        </p:spPr>
      </p:pic>
      <p:sp>
        <p:nvSpPr>
          <p:cNvPr id="85" name="Google Shape;8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
        <p:nvSpPr>
          <p:cNvPr id="86" name="Google Shape;86;p15"/>
          <p:cNvSpPr/>
          <p:nvPr/>
        </p:nvSpPr>
        <p:spPr>
          <a:xfrm>
            <a:off x="990150" y="77975"/>
            <a:ext cx="7349700" cy="53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800"/>
              <a:t>Pourquoi les Jeux Olympiques ?</a:t>
            </a:r>
            <a:endParaRPr b="1" sz="1800"/>
          </a:p>
        </p:txBody>
      </p:sp>
      <p:sp>
        <p:nvSpPr>
          <p:cNvPr id="87" name="Google Shape;87;p15"/>
          <p:cNvSpPr/>
          <p:nvPr/>
        </p:nvSpPr>
        <p:spPr>
          <a:xfrm>
            <a:off x="990150" y="857250"/>
            <a:ext cx="7396800" cy="3880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5"/>
          <p:cNvSpPr txBox="1"/>
          <p:nvPr/>
        </p:nvSpPr>
        <p:spPr>
          <a:xfrm>
            <a:off x="1501850" y="1355650"/>
            <a:ext cx="6366300" cy="2857500"/>
          </a:xfrm>
          <a:prstGeom prst="rect">
            <a:avLst/>
          </a:prstGeom>
          <a:noFill/>
          <a:ln>
            <a:noFill/>
          </a:ln>
        </p:spPr>
        <p:txBody>
          <a:bodyPr anchorCtr="0" anchor="t" bIns="91425" lIns="91425" spcFirstLastPara="1" rIns="91425" wrap="square" tIns="91425">
            <a:noAutofit/>
          </a:bodyPr>
          <a:lstStyle/>
          <a:p>
            <a:pPr indent="-323850" lvl="0" marL="457200" rtl="0" algn="just">
              <a:spcBef>
                <a:spcPts val="0"/>
              </a:spcBef>
              <a:spcAft>
                <a:spcPts val="0"/>
              </a:spcAft>
              <a:buClr>
                <a:schemeClr val="dk2"/>
              </a:buClr>
              <a:buSzPts val="1500"/>
              <a:buChar char="●"/>
            </a:pPr>
            <a:r>
              <a:rPr lang="fr" sz="1500">
                <a:solidFill>
                  <a:schemeClr val="dk2"/>
                </a:solidFill>
                <a:highlight>
                  <a:srgbClr val="EFEFEF"/>
                </a:highlight>
              </a:rPr>
              <a:t>U</a:t>
            </a:r>
            <a:r>
              <a:rPr lang="fr" sz="1500">
                <a:solidFill>
                  <a:schemeClr val="dk2"/>
                </a:solidFill>
                <a:highlight>
                  <a:srgbClr val="EFEFEF"/>
                </a:highlight>
              </a:rPr>
              <a:t>n thème qui passionne l’ensemble des membres du groupe.</a:t>
            </a:r>
            <a:endParaRPr sz="1500">
              <a:solidFill>
                <a:schemeClr val="dk2"/>
              </a:solidFill>
              <a:highlight>
                <a:srgbClr val="EFEFEF"/>
              </a:highlight>
            </a:endParaRPr>
          </a:p>
          <a:p>
            <a:pPr indent="0" lvl="0" marL="457200" rtl="0" algn="just">
              <a:spcBef>
                <a:spcPts val="0"/>
              </a:spcBef>
              <a:spcAft>
                <a:spcPts val="0"/>
              </a:spcAft>
              <a:buNone/>
            </a:pPr>
            <a:r>
              <a:t/>
            </a:r>
            <a:endParaRPr sz="1500">
              <a:solidFill>
                <a:schemeClr val="dk2"/>
              </a:solidFill>
              <a:highlight>
                <a:srgbClr val="EFEFEF"/>
              </a:highlight>
            </a:endParaRPr>
          </a:p>
          <a:p>
            <a:pPr indent="-323850" lvl="0" marL="457200" rtl="0" algn="just">
              <a:spcBef>
                <a:spcPts val="0"/>
              </a:spcBef>
              <a:spcAft>
                <a:spcPts val="0"/>
              </a:spcAft>
              <a:buClr>
                <a:schemeClr val="dk2"/>
              </a:buClr>
              <a:buSzPts val="1500"/>
              <a:buChar char="●"/>
            </a:pPr>
            <a:r>
              <a:rPr lang="fr" sz="1500">
                <a:solidFill>
                  <a:schemeClr val="dk2"/>
                </a:solidFill>
                <a:highlight>
                  <a:srgbClr val="EFEFEF"/>
                </a:highlight>
              </a:rPr>
              <a:t>Un sujet qui parle à une majorité de personnes à travers le monde.</a:t>
            </a:r>
            <a:endParaRPr sz="1500">
              <a:solidFill>
                <a:schemeClr val="dk2"/>
              </a:solidFill>
              <a:highlight>
                <a:srgbClr val="EFEFEF"/>
              </a:highlight>
            </a:endParaRPr>
          </a:p>
          <a:p>
            <a:pPr indent="0" lvl="0" marL="457200" rtl="0" algn="just">
              <a:spcBef>
                <a:spcPts val="0"/>
              </a:spcBef>
              <a:spcAft>
                <a:spcPts val="0"/>
              </a:spcAft>
              <a:buNone/>
            </a:pPr>
            <a:r>
              <a:t/>
            </a:r>
            <a:endParaRPr sz="1500">
              <a:solidFill>
                <a:schemeClr val="dk2"/>
              </a:solidFill>
              <a:highlight>
                <a:srgbClr val="EFEFEF"/>
              </a:highlight>
            </a:endParaRPr>
          </a:p>
          <a:p>
            <a:pPr indent="0" lvl="0" marL="457200" rtl="0" algn="just">
              <a:spcBef>
                <a:spcPts val="0"/>
              </a:spcBef>
              <a:spcAft>
                <a:spcPts val="0"/>
              </a:spcAft>
              <a:buNone/>
            </a:pPr>
            <a:r>
              <a:rPr lang="fr" sz="1500">
                <a:solidFill>
                  <a:schemeClr val="dk2"/>
                </a:solidFill>
                <a:highlight>
                  <a:srgbClr val="EFEFEF"/>
                </a:highlight>
              </a:rPr>
              <a:t>Audience estimée pour les JO de Paris 2024 : ~ 5 milliards de personnes </a:t>
            </a:r>
            <a:endParaRPr sz="1500">
              <a:solidFill>
                <a:schemeClr val="dk2"/>
              </a:solidFill>
              <a:highlight>
                <a:srgbClr val="EFEFEF"/>
              </a:highlight>
            </a:endParaRPr>
          </a:p>
          <a:p>
            <a:pPr indent="0" lvl="0" marL="457200" rtl="0" algn="just">
              <a:spcBef>
                <a:spcPts val="0"/>
              </a:spcBef>
              <a:spcAft>
                <a:spcPts val="0"/>
              </a:spcAft>
              <a:buNone/>
            </a:pPr>
            <a:r>
              <a:rPr lang="fr" sz="1500">
                <a:solidFill>
                  <a:schemeClr val="dk2"/>
                </a:solidFill>
                <a:highlight>
                  <a:srgbClr val="EFEFEF"/>
                </a:highlight>
              </a:rPr>
              <a:t>(</a:t>
            </a:r>
            <a:r>
              <a:rPr i="1" lang="fr" sz="1500">
                <a:solidFill>
                  <a:schemeClr val="dk2"/>
                </a:solidFill>
                <a:highlight>
                  <a:srgbClr val="EFEFEF"/>
                </a:highlight>
              </a:rPr>
              <a:t>à titre de comparaison : autant que la dernière Coupe du Monde de football au Qatar</a:t>
            </a:r>
            <a:r>
              <a:rPr lang="fr" sz="1500">
                <a:solidFill>
                  <a:schemeClr val="dk2"/>
                </a:solidFill>
                <a:highlight>
                  <a:srgbClr val="EFEFEF"/>
                </a:highlight>
              </a:rPr>
              <a:t>)</a:t>
            </a:r>
            <a:endParaRPr sz="1500">
              <a:solidFill>
                <a:schemeClr val="dk2"/>
              </a:solidFill>
              <a:highlight>
                <a:srgbClr val="EFEFEF"/>
              </a:highlight>
            </a:endParaRPr>
          </a:p>
          <a:p>
            <a:pPr indent="0" lvl="0" marL="457200" rtl="0" algn="just">
              <a:spcBef>
                <a:spcPts val="0"/>
              </a:spcBef>
              <a:spcAft>
                <a:spcPts val="0"/>
              </a:spcAft>
              <a:buNone/>
            </a:pPr>
            <a:r>
              <a:t/>
            </a:r>
            <a:endParaRPr sz="1500">
              <a:solidFill>
                <a:schemeClr val="dk2"/>
              </a:solidFill>
              <a:highlight>
                <a:srgbClr val="EFEFEF"/>
              </a:highlight>
            </a:endParaRPr>
          </a:p>
          <a:p>
            <a:pPr indent="-323850" lvl="0" marL="457200" rtl="0" algn="just">
              <a:spcBef>
                <a:spcPts val="0"/>
              </a:spcBef>
              <a:spcAft>
                <a:spcPts val="0"/>
              </a:spcAft>
              <a:buClr>
                <a:schemeClr val="dk2"/>
              </a:buClr>
              <a:buSzPts val="1500"/>
              <a:buChar char="●"/>
            </a:pPr>
            <a:r>
              <a:rPr lang="fr" sz="1500">
                <a:solidFill>
                  <a:schemeClr val="dk2"/>
                </a:solidFill>
                <a:highlight>
                  <a:srgbClr val="EFEFEF"/>
                </a:highlight>
              </a:rPr>
              <a:t>Un défi technique : Pouvoir manipuler des datasets massifs et variés dans le temps pour en extraire des insights pertinents et scraping pour extraire des données spécifiques.</a:t>
            </a:r>
            <a:endParaRPr sz="1500">
              <a:solidFill>
                <a:schemeClr val="dk2"/>
              </a:solidFill>
              <a:highlight>
                <a:srgbClr val="EFEFEF"/>
              </a:highlight>
            </a:endParaRPr>
          </a:p>
        </p:txBody>
      </p:sp>
      <p:sp>
        <p:nvSpPr>
          <p:cNvPr id="89" name="Google Shape;89;p15"/>
          <p:cNvSpPr/>
          <p:nvPr/>
        </p:nvSpPr>
        <p:spPr>
          <a:xfrm>
            <a:off x="1654700" y="2412250"/>
            <a:ext cx="318900" cy="1728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dk1"/>
              </a:highlight>
            </a:endParaRPr>
          </a:p>
        </p:txBody>
      </p:sp>
      <p:pic>
        <p:nvPicPr>
          <p:cNvPr id="90" name="Google Shape;90;p15" title="2021_anneaux_olympiques_png_transparent_20210724_1834024954.png"/>
          <p:cNvPicPr preferRelativeResize="0"/>
          <p:nvPr/>
        </p:nvPicPr>
        <p:blipFill>
          <a:blip r:embed="rId4">
            <a:alphaModFix/>
          </a:blip>
          <a:stretch>
            <a:fillRect/>
          </a:stretch>
        </p:blipFill>
        <p:spPr>
          <a:xfrm>
            <a:off x="8299712" y="27926"/>
            <a:ext cx="894174" cy="63319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6"/>
          <p:cNvPicPr preferRelativeResize="0"/>
          <p:nvPr/>
        </p:nvPicPr>
        <p:blipFill rotWithShape="1">
          <a:blip r:embed="rId3">
            <a:alphaModFix/>
          </a:blip>
          <a:srcRect b="0" l="0" r="0" t="0"/>
          <a:stretch/>
        </p:blipFill>
        <p:spPr>
          <a:xfrm>
            <a:off x="213300" y="183827"/>
            <a:ext cx="576900" cy="385904"/>
          </a:xfrm>
          <a:prstGeom prst="rect">
            <a:avLst/>
          </a:prstGeom>
          <a:noFill/>
          <a:ln>
            <a:noFill/>
          </a:ln>
        </p:spPr>
      </p:pic>
      <p:sp>
        <p:nvSpPr>
          <p:cNvPr id="96" name="Google Shape;96;p16"/>
          <p:cNvSpPr txBox="1"/>
          <p:nvPr>
            <p:ph idx="12" type="sldNum"/>
          </p:nvPr>
        </p:nvSpPr>
        <p:spPr>
          <a:xfrm>
            <a:off x="8398183" y="467249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
        <p:nvSpPr>
          <p:cNvPr id="97" name="Google Shape;97;p16"/>
          <p:cNvSpPr/>
          <p:nvPr/>
        </p:nvSpPr>
        <p:spPr>
          <a:xfrm>
            <a:off x="990150" y="77975"/>
            <a:ext cx="7349700" cy="53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800">
                <a:solidFill>
                  <a:srgbClr val="0E3449"/>
                </a:solidFill>
              </a:rPr>
              <a:t>Parcours des données</a:t>
            </a:r>
            <a:endParaRPr b="1" sz="1800">
              <a:solidFill>
                <a:srgbClr val="0E3449"/>
              </a:solidFill>
            </a:endParaRPr>
          </a:p>
        </p:txBody>
      </p:sp>
      <p:sp>
        <p:nvSpPr>
          <p:cNvPr id="98" name="Google Shape;98;p16"/>
          <p:cNvSpPr/>
          <p:nvPr/>
        </p:nvSpPr>
        <p:spPr>
          <a:xfrm>
            <a:off x="915875" y="866525"/>
            <a:ext cx="7482300" cy="3880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6"/>
          <p:cNvSpPr txBox="1"/>
          <p:nvPr/>
        </p:nvSpPr>
        <p:spPr>
          <a:xfrm>
            <a:off x="1427575" y="1364925"/>
            <a:ext cx="6366300" cy="2857500"/>
          </a:xfrm>
          <a:prstGeom prst="rect">
            <a:avLst/>
          </a:prstGeom>
          <a:noFill/>
          <a:ln>
            <a:noFill/>
          </a:ln>
        </p:spPr>
        <p:txBody>
          <a:bodyPr anchorCtr="0" anchor="t" bIns="91425" lIns="91425" spcFirstLastPara="1" rIns="91425" wrap="square" tIns="91425">
            <a:noAutofit/>
          </a:bodyPr>
          <a:lstStyle/>
          <a:p>
            <a:pPr indent="0" lvl="0" marL="457200" rtl="0" algn="just">
              <a:spcBef>
                <a:spcPts val="0"/>
              </a:spcBef>
              <a:spcAft>
                <a:spcPts val="0"/>
              </a:spcAft>
              <a:buNone/>
            </a:pPr>
            <a:r>
              <a:t/>
            </a:r>
            <a:endParaRPr>
              <a:solidFill>
                <a:schemeClr val="dk1"/>
              </a:solidFill>
              <a:highlight>
                <a:srgbClr val="FF0000"/>
              </a:highlight>
            </a:endParaRPr>
          </a:p>
          <a:p>
            <a:pPr indent="0" lvl="0" marL="457200" rtl="0" algn="just">
              <a:spcBef>
                <a:spcPts val="0"/>
              </a:spcBef>
              <a:spcAft>
                <a:spcPts val="0"/>
              </a:spcAft>
              <a:buNone/>
            </a:pPr>
            <a:r>
              <a:t/>
            </a:r>
            <a:endParaRPr sz="1500">
              <a:solidFill>
                <a:schemeClr val="dk2"/>
              </a:solidFill>
              <a:highlight>
                <a:srgbClr val="EFEFEF"/>
              </a:highlight>
            </a:endParaRPr>
          </a:p>
          <a:p>
            <a:pPr indent="0" lvl="0" marL="457200" rtl="0" algn="just">
              <a:spcBef>
                <a:spcPts val="0"/>
              </a:spcBef>
              <a:spcAft>
                <a:spcPts val="0"/>
              </a:spcAft>
              <a:buNone/>
            </a:pPr>
            <a:r>
              <a:t/>
            </a:r>
            <a:endParaRPr sz="1500">
              <a:solidFill>
                <a:schemeClr val="dk2"/>
              </a:solidFill>
              <a:highlight>
                <a:srgbClr val="EFEFEF"/>
              </a:highlight>
            </a:endParaRPr>
          </a:p>
        </p:txBody>
      </p:sp>
      <p:pic>
        <p:nvPicPr>
          <p:cNvPr id="100" name="Google Shape;100;p16" title="kaggle.png"/>
          <p:cNvPicPr preferRelativeResize="0"/>
          <p:nvPr/>
        </p:nvPicPr>
        <p:blipFill>
          <a:blip r:embed="rId4">
            <a:alphaModFix/>
          </a:blip>
          <a:stretch>
            <a:fillRect/>
          </a:stretch>
        </p:blipFill>
        <p:spPr>
          <a:xfrm>
            <a:off x="1175676" y="2236276"/>
            <a:ext cx="441160" cy="533100"/>
          </a:xfrm>
          <a:prstGeom prst="rect">
            <a:avLst/>
          </a:prstGeom>
          <a:noFill/>
          <a:ln>
            <a:noFill/>
          </a:ln>
        </p:spPr>
      </p:pic>
      <p:cxnSp>
        <p:nvCxnSpPr>
          <p:cNvPr id="101" name="Google Shape;101;p16"/>
          <p:cNvCxnSpPr>
            <a:stCxn id="100" idx="3"/>
          </p:cNvCxnSpPr>
          <p:nvPr/>
        </p:nvCxnSpPr>
        <p:spPr>
          <a:xfrm flipH="1" rot="10800000">
            <a:off x="1616836" y="2499826"/>
            <a:ext cx="1174500" cy="3000"/>
          </a:xfrm>
          <a:prstGeom prst="straightConnector1">
            <a:avLst/>
          </a:prstGeom>
          <a:noFill/>
          <a:ln cap="flat" cmpd="sng" w="19050">
            <a:solidFill>
              <a:srgbClr val="CD7F32"/>
            </a:solidFill>
            <a:prstDash val="solid"/>
            <a:round/>
            <a:headEnd len="med" w="med" type="none"/>
            <a:tailEnd len="med" w="med" type="stealth"/>
          </a:ln>
        </p:spPr>
      </p:cxnSp>
      <p:sp>
        <p:nvSpPr>
          <p:cNvPr id="102" name="Google Shape;102;p16"/>
          <p:cNvSpPr txBox="1"/>
          <p:nvPr/>
        </p:nvSpPr>
        <p:spPr>
          <a:xfrm>
            <a:off x="1779234" y="2063210"/>
            <a:ext cx="9069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200">
                <a:solidFill>
                  <a:schemeClr val="dk2"/>
                </a:solidFill>
              </a:rPr>
              <a:t>Collecte</a:t>
            </a:r>
            <a:endParaRPr sz="1200">
              <a:solidFill>
                <a:schemeClr val="dk2"/>
              </a:solidFill>
            </a:endParaRPr>
          </a:p>
        </p:txBody>
      </p:sp>
      <p:pic>
        <p:nvPicPr>
          <p:cNvPr id="103" name="Google Shape;103;p16"/>
          <p:cNvPicPr preferRelativeResize="0"/>
          <p:nvPr/>
        </p:nvPicPr>
        <p:blipFill rotWithShape="1">
          <a:blip r:embed="rId5">
            <a:alphaModFix/>
          </a:blip>
          <a:srcRect b="0" l="0" r="0" t="0"/>
          <a:stretch/>
        </p:blipFill>
        <p:spPr>
          <a:xfrm>
            <a:off x="3008166" y="2236306"/>
            <a:ext cx="517504" cy="625324"/>
          </a:xfrm>
          <a:prstGeom prst="rect">
            <a:avLst/>
          </a:prstGeom>
          <a:noFill/>
          <a:ln>
            <a:noFill/>
          </a:ln>
        </p:spPr>
      </p:pic>
      <p:cxnSp>
        <p:nvCxnSpPr>
          <p:cNvPr id="104" name="Google Shape;104;p16"/>
          <p:cNvCxnSpPr/>
          <p:nvPr/>
        </p:nvCxnSpPr>
        <p:spPr>
          <a:xfrm flipH="1" rot="10800000">
            <a:off x="3786273" y="2545960"/>
            <a:ext cx="1174500" cy="3000"/>
          </a:xfrm>
          <a:prstGeom prst="straightConnector1">
            <a:avLst/>
          </a:prstGeom>
          <a:noFill/>
          <a:ln cap="flat" cmpd="sng" w="38100">
            <a:solidFill>
              <a:srgbClr val="CD7F32"/>
            </a:solidFill>
            <a:prstDash val="solid"/>
            <a:round/>
            <a:headEnd len="med" w="med" type="none"/>
            <a:tailEnd len="med" w="med" type="stealth"/>
          </a:ln>
        </p:spPr>
      </p:cxnSp>
      <p:sp>
        <p:nvSpPr>
          <p:cNvPr id="105" name="Google Shape;105;p16"/>
          <p:cNvSpPr txBox="1"/>
          <p:nvPr/>
        </p:nvSpPr>
        <p:spPr>
          <a:xfrm>
            <a:off x="3786273" y="2063198"/>
            <a:ext cx="9069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200">
                <a:solidFill>
                  <a:schemeClr val="dk2"/>
                </a:solidFill>
              </a:rPr>
              <a:t>Import</a:t>
            </a:r>
            <a:endParaRPr sz="1200">
              <a:solidFill>
                <a:schemeClr val="dk2"/>
              </a:solidFill>
            </a:endParaRPr>
          </a:p>
        </p:txBody>
      </p:sp>
      <p:pic>
        <p:nvPicPr>
          <p:cNvPr id="106" name="Google Shape;106;p16" title="wiki.jpg"/>
          <p:cNvPicPr preferRelativeResize="0"/>
          <p:nvPr/>
        </p:nvPicPr>
        <p:blipFill>
          <a:blip r:embed="rId6">
            <a:alphaModFix/>
          </a:blip>
          <a:stretch>
            <a:fillRect/>
          </a:stretch>
        </p:blipFill>
        <p:spPr>
          <a:xfrm>
            <a:off x="1124425" y="3071006"/>
            <a:ext cx="548700" cy="645095"/>
          </a:xfrm>
          <a:prstGeom prst="rect">
            <a:avLst/>
          </a:prstGeom>
          <a:noFill/>
          <a:ln>
            <a:noFill/>
          </a:ln>
        </p:spPr>
      </p:pic>
      <p:cxnSp>
        <p:nvCxnSpPr>
          <p:cNvPr id="107" name="Google Shape;107;p16"/>
          <p:cNvCxnSpPr>
            <a:stCxn id="106" idx="3"/>
          </p:cNvCxnSpPr>
          <p:nvPr/>
        </p:nvCxnSpPr>
        <p:spPr>
          <a:xfrm flipH="1" rot="10800000">
            <a:off x="1673125" y="2754853"/>
            <a:ext cx="1115400" cy="638700"/>
          </a:xfrm>
          <a:prstGeom prst="straightConnector1">
            <a:avLst/>
          </a:prstGeom>
          <a:noFill/>
          <a:ln cap="flat" cmpd="sng" w="19050">
            <a:solidFill>
              <a:srgbClr val="CD7F32"/>
            </a:solidFill>
            <a:prstDash val="solid"/>
            <a:round/>
            <a:headEnd len="med" w="med" type="none"/>
            <a:tailEnd len="med" w="med" type="stealth"/>
          </a:ln>
        </p:spPr>
      </p:cxnSp>
      <p:sp>
        <p:nvSpPr>
          <p:cNvPr id="108" name="Google Shape;108;p16"/>
          <p:cNvSpPr txBox="1"/>
          <p:nvPr/>
        </p:nvSpPr>
        <p:spPr>
          <a:xfrm rot="-1823786">
            <a:off x="1724905" y="2672673"/>
            <a:ext cx="945690" cy="24378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200">
                <a:solidFill>
                  <a:schemeClr val="dk2"/>
                </a:solidFill>
              </a:rPr>
              <a:t>Scraping</a:t>
            </a:r>
            <a:endParaRPr sz="1200">
              <a:solidFill>
                <a:schemeClr val="dk2"/>
              </a:solidFill>
            </a:endParaRPr>
          </a:p>
        </p:txBody>
      </p:sp>
      <p:pic>
        <p:nvPicPr>
          <p:cNvPr id="109" name="Google Shape;109;p16" title="images.jpg"/>
          <p:cNvPicPr preferRelativeResize="0"/>
          <p:nvPr/>
        </p:nvPicPr>
        <p:blipFill>
          <a:blip r:embed="rId7">
            <a:alphaModFix/>
          </a:blip>
          <a:stretch>
            <a:fillRect/>
          </a:stretch>
        </p:blipFill>
        <p:spPr>
          <a:xfrm>
            <a:off x="5207164" y="2252261"/>
            <a:ext cx="441150" cy="530676"/>
          </a:xfrm>
          <a:prstGeom prst="rect">
            <a:avLst/>
          </a:prstGeom>
          <a:noFill/>
          <a:ln>
            <a:noFill/>
          </a:ln>
        </p:spPr>
      </p:pic>
      <p:cxnSp>
        <p:nvCxnSpPr>
          <p:cNvPr id="110" name="Google Shape;110;p16"/>
          <p:cNvCxnSpPr/>
          <p:nvPr/>
        </p:nvCxnSpPr>
        <p:spPr>
          <a:xfrm flipH="1" rot="10800000">
            <a:off x="5971551" y="2545960"/>
            <a:ext cx="1174500" cy="3000"/>
          </a:xfrm>
          <a:prstGeom prst="straightConnector1">
            <a:avLst/>
          </a:prstGeom>
          <a:noFill/>
          <a:ln cap="flat" cmpd="sng" w="38100">
            <a:solidFill>
              <a:srgbClr val="C0C0C0"/>
            </a:solidFill>
            <a:prstDash val="solid"/>
            <a:round/>
            <a:headEnd len="med" w="med" type="none"/>
            <a:tailEnd len="med" w="med" type="stealth"/>
          </a:ln>
        </p:spPr>
      </p:cxnSp>
      <p:sp>
        <p:nvSpPr>
          <p:cNvPr id="111" name="Google Shape;111;p16"/>
          <p:cNvSpPr txBox="1"/>
          <p:nvPr/>
        </p:nvSpPr>
        <p:spPr>
          <a:xfrm>
            <a:off x="5894710" y="2063210"/>
            <a:ext cx="9069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200">
                <a:solidFill>
                  <a:schemeClr val="dk2"/>
                </a:solidFill>
              </a:rPr>
              <a:t>Nettoyage</a:t>
            </a:r>
            <a:endParaRPr sz="1200">
              <a:solidFill>
                <a:schemeClr val="dk2"/>
              </a:solidFill>
            </a:endParaRPr>
          </a:p>
        </p:txBody>
      </p:sp>
      <p:pic>
        <p:nvPicPr>
          <p:cNvPr id="112" name="Google Shape;112;p16"/>
          <p:cNvPicPr preferRelativeResize="0"/>
          <p:nvPr/>
        </p:nvPicPr>
        <p:blipFill rotWithShape="1">
          <a:blip r:embed="rId8">
            <a:alphaModFix/>
          </a:blip>
          <a:srcRect b="0" l="0" r="0" t="0"/>
          <a:stretch/>
        </p:blipFill>
        <p:spPr>
          <a:xfrm>
            <a:off x="7329823" y="1630924"/>
            <a:ext cx="770514" cy="1115950"/>
          </a:xfrm>
          <a:prstGeom prst="rect">
            <a:avLst/>
          </a:prstGeom>
          <a:noFill/>
          <a:ln>
            <a:noFill/>
          </a:ln>
        </p:spPr>
      </p:pic>
      <p:pic>
        <p:nvPicPr>
          <p:cNvPr id="113" name="Google Shape;113;p16" title="images.jpg"/>
          <p:cNvPicPr preferRelativeResize="0"/>
          <p:nvPr/>
        </p:nvPicPr>
        <p:blipFill>
          <a:blip r:embed="rId7">
            <a:alphaModFix/>
          </a:blip>
          <a:stretch>
            <a:fillRect/>
          </a:stretch>
        </p:blipFill>
        <p:spPr>
          <a:xfrm rot="-1764773">
            <a:off x="2222671" y="3113601"/>
            <a:ext cx="265879" cy="298640"/>
          </a:xfrm>
          <a:prstGeom prst="rect">
            <a:avLst/>
          </a:prstGeom>
          <a:noFill/>
          <a:ln>
            <a:noFill/>
          </a:ln>
        </p:spPr>
      </p:pic>
      <p:cxnSp>
        <p:nvCxnSpPr>
          <p:cNvPr id="114" name="Google Shape;114;p16"/>
          <p:cNvCxnSpPr/>
          <p:nvPr/>
        </p:nvCxnSpPr>
        <p:spPr>
          <a:xfrm flipH="1">
            <a:off x="4973121" y="3130845"/>
            <a:ext cx="2573700" cy="891300"/>
          </a:xfrm>
          <a:prstGeom prst="straightConnector1">
            <a:avLst/>
          </a:prstGeom>
          <a:noFill/>
          <a:ln cap="flat" cmpd="sng" w="28575">
            <a:solidFill>
              <a:srgbClr val="C0C0C0"/>
            </a:solidFill>
            <a:prstDash val="solid"/>
            <a:round/>
            <a:headEnd len="med" w="med" type="none"/>
            <a:tailEnd len="med" w="med" type="triangle"/>
          </a:ln>
        </p:spPr>
      </p:cxnSp>
      <p:pic>
        <p:nvPicPr>
          <p:cNvPr id="115" name="Google Shape;115;p16"/>
          <p:cNvPicPr preferRelativeResize="0"/>
          <p:nvPr/>
        </p:nvPicPr>
        <p:blipFill rotWithShape="1">
          <a:blip r:embed="rId8">
            <a:alphaModFix/>
          </a:blip>
          <a:srcRect b="0" l="0" r="0" t="0"/>
          <a:stretch/>
        </p:blipFill>
        <p:spPr>
          <a:xfrm>
            <a:off x="4300424" y="3716109"/>
            <a:ext cx="583194" cy="704701"/>
          </a:xfrm>
          <a:prstGeom prst="rect">
            <a:avLst/>
          </a:prstGeom>
          <a:noFill/>
          <a:ln>
            <a:noFill/>
          </a:ln>
        </p:spPr>
      </p:pic>
      <p:sp>
        <p:nvSpPr>
          <p:cNvPr id="116" name="Google Shape;116;p16"/>
          <p:cNvSpPr txBox="1"/>
          <p:nvPr/>
        </p:nvSpPr>
        <p:spPr>
          <a:xfrm rot="-1125604">
            <a:off x="5036548" y="3517016"/>
            <a:ext cx="2808717" cy="587918"/>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sz="1300">
                <a:solidFill>
                  <a:schemeClr val="dk2"/>
                </a:solidFill>
              </a:rPr>
              <a:t>Dernier nettoyage et jointures via schéma OLAP</a:t>
            </a:r>
            <a:endParaRPr sz="1300">
              <a:solidFill>
                <a:schemeClr val="dk2"/>
              </a:solidFill>
            </a:endParaRPr>
          </a:p>
        </p:txBody>
      </p:sp>
      <p:pic>
        <p:nvPicPr>
          <p:cNvPr id="117" name="Google Shape;117;p16" title="icone json.png"/>
          <p:cNvPicPr preferRelativeResize="0"/>
          <p:nvPr/>
        </p:nvPicPr>
        <p:blipFill>
          <a:blip r:embed="rId9">
            <a:alphaModFix/>
          </a:blip>
          <a:stretch>
            <a:fillRect/>
          </a:stretch>
        </p:blipFill>
        <p:spPr>
          <a:xfrm>
            <a:off x="3259036" y="2540397"/>
            <a:ext cx="441149" cy="533068"/>
          </a:xfrm>
          <a:prstGeom prst="rect">
            <a:avLst/>
          </a:prstGeom>
          <a:noFill/>
          <a:ln>
            <a:noFill/>
          </a:ln>
        </p:spPr>
      </p:pic>
      <p:pic>
        <p:nvPicPr>
          <p:cNvPr id="118" name="Google Shape;118;p16" title="icone json.png"/>
          <p:cNvPicPr preferRelativeResize="0"/>
          <p:nvPr/>
        </p:nvPicPr>
        <p:blipFill>
          <a:blip r:embed="rId9">
            <a:alphaModFix/>
          </a:blip>
          <a:stretch>
            <a:fillRect/>
          </a:stretch>
        </p:blipFill>
        <p:spPr>
          <a:xfrm>
            <a:off x="3046349" y="1368734"/>
            <a:ext cx="441149" cy="533068"/>
          </a:xfrm>
          <a:prstGeom prst="rect">
            <a:avLst/>
          </a:prstGeom>
          <a:noFill/>
          <a:ln>
            <a:noFill/>
          </a:ln>
        </p:spPr>
      </p:pic>
      <p:cxnSp>
        <p:nvCxnSpPr>
          <p:cNvPr id="119" name="Google Shape;119;p16"/>
          <p:cNvCxnSpPr/>
          <p:nvPr/>
        </p:nvCxnSpPr>
        <p:spPr>
          <a:xfrm flipH="1" rot="10800000">
            <a:off x="3786273" y="1688612"/>
            <a:ext cx="1174500" cy="3000"/>
          </a:xfrm>
          <a:prstGeom prst="straightConnector1">
            <a:avLst/>
          </a:prstGeom>
          <a:noFill/>
          <a:ln cap="flat" cmpd="sng" w="38100">
            <a:solidFill>
              <a:srgbClr val="CD7F32"/>
            </a:solidFill>
            <a:prstDash val="solid"/>
            <a:round/>
            <a:headEnd len="med" w="med" type="none"/>
            <a:tailEnd len="med" w="med" type="stealth"/>
          </a:ln>
        </p:spPr>
      </p:cxnSp>
      <p:pic>
        <p:nvPicPr>
          <p:cNvPr id="120" name="Google Shape;120;p16" title="mapshaper.png"/>
          <p:cNvPicPr preferRelativeResize="0"/>
          <p:nvPr/>
        </p:nvPicPr>
        <p:blipFill>
          <a:blip r:embed="rId10">
            <a:alphaModFix/>
          </a:blip>
          <a:stretch>
            <a:fillRect/>
          </a:stretch>
        </p:blipFill>
        <p:spPr>
          <a:xfrm>
            <a:off x="5203937" y="1366225"/>
            <a:ext cx="445325" cy="538112"/>
          </a:xfrm>
          <a:prstGeom prst="rect">
            <a:avLst/>
          </a:prstGeom>
          <a:noFill/>
          <a:ln>
            <a:noFill/>
          </a:ln>
        </p:spPr>
      </p:pic>
      <p:sp>
        <p:nvSpPr>
          <p:cNvPr id="121" name="Google Shape;121;p16"/>
          <p:cNvSpPr txBox="1"/>
          <p:nvPr/>
        </p:nvSpPr>
        <p:spPr>
          <a:xfrm>
            <a:off x="3786273" y="1191450"/>
            <a:ext cx="9069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200">
                <a:solidFill>
                  <a:schemeClr val="dk2"/>
                </a:solidFill>
              </a:rPr>
              <a:t>Import</a:t>
            </a:r>
            <a:endParaRPr sz="1200">
              <a:solidFill>
                <a:schemeClr val="dk2"/>
              </a:solidFill>
            </a:endParaRPr>
          </a:p>
        </p:txBody>
      </p:sp>
      <p:cxnSp>
        <p:nvCxnSpPr>
          <p:cNvPr id="122" name="Google Shape;122;p16"/>
          <p:cNvCxnSpPr/>
          <p:nvPr/>
        </p:nvCxnSpPr>
        <p:spPr>
          <a:xfrm flipH="1" rot="10800000">
            <a:off x="5971551" y="1744312"/>
            <a:ext cx="1174500" cy="3000"/>
          </a:xfrm>
          <a:prstGeom prst="straightConnector1">
            <a:avLst/>
          </a:prstGeom>
          <a:noFill/>
          <a:ln cap="flat" cmpd="sng" w="38100">
            <a:solidFill>
              <a:srgbClr val="C0C0C0"/>
            </a:solidFill>
            <a:prstDash val="solid"/>
            <a:round/>
            <a:headEnd len="med" w="med" type="none"/>
            <a:tailEnd len="med" w="med" type="stealth"/>
          </a:ln>
        </p:spPr>
      </p:cxnSp>
      <p:sp>
        <p:nvSpPr>
          <p:cNvPr id="123" name="Google Shape;123;p16"/>
          <p:cNvSpPr txBox="1"/>
          <p:nvPr/>
        </p:nvSpPr>
        <p:spPr>
          <a:xfrm>
            <a:off x="5892434" y="1219300"/>
            <a:ext cx="11154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200">
                <a:solidFill>
                  <a:schemeClr val="dk2"/>
                </a:solidFill>
              </a:rPr>
              <a:t>Reformatage</a:t>
            </a:r>
            <a:endParaRPr sz="12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17"/>
          <p:cNvPicPr preferRelativeResize="0"/>
          <p:nvPr/>
        </p:nvPicPr>
        <p:blipFill rotWithShape="1">
          <a:blip r:embed="rId3">
            <a:alphaModFix/>
          </a:blip>
          <a:srcRect b="0" l="0" r="0" t="0"/>
          <a:stretch/>
        </p:blipFill>
        <p:spPr>
          <a:xfrm>
            <a:off x="213300" y="183827"/>
            <a:ext cx="576900" cy="385904"/>
          </a:xfrm>
          <a:prstGeom prst="rect">
            <a:avLst/>
          </a:prstGeom>
          <a:noFill/>
          <a:ln>
            <a:noFill/>
          </a:ln>
        </p:spPr>
      </p:pic>
      <p:sp>
        <p:nvSpPr>
          <p:cNvPr id="129" name="Google Shape;12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
        <p:nvSpPr>
          <p:cNvPr id="130" name="Google Shape;130;p17"/>
          <p:cNvSpPr/>
          <p:nvPr/>
        </p:nvSpPr>
        <p:spPr>
          <a:xfrm>
            <a:off x="990150" y="77975"/>
            <a:ext cx="7690500" cy="53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800">
                <a:solidFill>
                  <a:srgbClr val="0E3449"/>
                </a:solidFill>
              </a:rPr>
              <a:t>Le Dataset : Collecte, importation et traitement des données</a:t>
            </a:r>
            <a:endParaRPr b="1" sz="800"/>
          </a:p>
        </p:txBody>
      </p:sp>
      <p:sp>
        <p:nvSpPr>
          <p:cNvPr id="131" name="Google Shape;131;p17"/>
          <p:cNvSpPr/>
          <p:nvPr/>
        </p:nvSpPr>
        <p:spPr>
          <a:xfrm>
            <a:off x="990150" y="857250"/>
            <a:ext cx="2958000" cy="3880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7"/>
          <p:cNvSpPr txBox="1"/>
          <p:nvPr/>
        </p:nvSpPr>
        <p:spPr>
          <a:xfrm>
            <a:off x="990100" y="819775"/>
            <a:ext cx="2910900" cy="3612000"/>
          </a:xfrm>
          <a:prstGeom prst="rect">
            <a:avLst/>
          </a:prstGeom>
          <a:noFill/>
          <a:ln>
            <a:noFill/>
          </a:ln>
        </p:spPr>
        <p:txBody>
          <a:bodyPr anchorCtr="0" anchor="t" bIns="91425" lIns="91425" spcFirstLastPara="1" rIns="91425" wrap="square" tIns="91425">
            <a:noAutofit/>
          </a:bodyPr>
          <a:lstStyle/>
          <a:p>
            <a:pPr indent="0" lvl="0" marL="457200" rtl="0" algn="just">
              <a:spcBef>
                <a:spcPts val="0"/>
              </a:spcBef>
              <a:spcAft>
                <a:spcPts val="0"/>
              </a:spcAft>
              <a:buNone/>
            </a:pPr>
            <a:r>
              <a:t/>
            </a:r>
            <a:endParaRPr sz="1100">
              <a:solidFill>
                <a:schemeClr val="dk2"/>
              </a:solidFill>
            </a:endParaRPr>
          </a:p>
          <a:p>
            <a:pPr indent="0" lvl="0" marL="0" rtl="0" algn="just">
              <a:spcBef>
                <a:spcPts val="0"/>
              </a:spcBef>
              <a:spcAft>
                <a:spcPts val="0"/>
              </a:spcAft>
              <a:buNone/>
            </a:pPr>
            <a:r>
              <a:t/>
            </a:r>
            <a:endParaRPr sz="1100">
              <a:solidFill>
                <a:schemeClr val="dk2"/>
              </a:solidFill>
            </a:endParaRPr>
          </a:p>
          <a:p>
            <a:pPr indent="0" lvl="0" marL="0" rtl="0" algn="just">
              <a:spcBef>
                <a:spcPts val="0"/>
              </a:spcBef>
              <a:spcAft>
                <a:spcPts val="0"/>
              </a:spcAft>
              <a:buNone/>
            </a:pPr>
            <a:r>
              <a:t/>
            </a:r>
            <a:endParaRPr sz="1100">
              <a:solidFill>
                <a:schemeClr val="dk2"/>
              </a:solidFill>
            </a:endParaRPr>
          </a:p>
          <a:p>
            <a:pPr indent="-298450" lvl="0" marL="457200" rtl="0" algn="just">
              <a:spcBef>
                <a:spcPts val="0"/>
              </a:spcBef>
              <a:spcAft>
                <a:spcPts val="0"/>
              </a:spcAft>
              <a:buClr>
                <a:schemeClr val="dk2"/>
              </a:buClr>
              <a:buSzPts val="1100"/>
              <a:buChar char="●"/>
            </a:pPr>
            <a:r>
              <a:rPr lang="fr" sz="1100">
                <a:solidFill>
                  <a:schemeClr val="dk2"/>
                </a:solidFill>
              </a:rPr>
              <a:t>Récupération DU .</a:t>
            </a:r>
            <a:endParaRPr sz="1100">
              <a:solidFill>
                <a:schemeClr val="dk2"/>
              </a:solidFill>
            </a:endParaRPr>
          </a:p>
          <a:p>
            <a:pPr indent="-298450" lvl="1" marL="914400" rtl="0" algn="just">
              <a:spcBef>
                <a:spcPts val="0"/>
              </a:spcBef>
              <a:spcAft>
                <a:spcPts val="0"/>
              </a:spcAft>
              <a:buClr>
                <a:schemeClr val="dk2"/>
              </a:buClr>
              <a:buSzPts val="1100"/>
              <a:buChar char="○"/>
            </a:pPr>
            <a:r>
              <a:rPr lang="fr" sz="1100">
                <a:solidFill>
                  <a:schemeClr val="dk2"/>
                </a:solidFill>
              </a:rPr>
              <a:t>12 tables (7 via Kaggle, 5 par scraping sur Wikipedia).</a:t>
            </a:r>
            <a:endParaRPr sz="1100">
              <a:solidFill>
                <a:schemeClr val="dk2"/>
              </a:solidFill>
            </a:endParaRPr>
          </a:p>
          <a:p>
            <a:pPr indent="-298450" lvl="1" marL="914400" rtl="0" algn="just">
              <a:spcBef>
                <a:spcPts val="0"/>
              </a:spcBef>
              <a:spcAft>
                <a:spcPts val="0"/>
              </a:spcAft>
              <a:buClr>
                <a:schemeClr val="dk2"/>
              </a:buClr>
              <a:buSzPts val="1100"/>
              <a:buChar char="○"/>
            </a:pPr>
            <a:r>
              <a:rPr lang="fr" sz="1100">
                <a:solidFill>
                  <a:schemeClr val="dk2"/>
                </a:solidFill>
              </a:rPr>
              <a:t>483740 lignes / 88 colonnes sur l’ensemble des 11 tables collectées</a:t>
            </a:r>
            <a:endParaRPr sz="1100">
              <a:solidFill>
                <a:schemeClr val="dk2"/>
              </a:solidFill>
            </a:endParaRPr>
          </a:p>
          <a:p>
            <a:pPr indent="0" lvl="0" marL="457200" rtl="0" algn="just">
              <a:spcBef>
                <a:spcPts val="0"/>
              </a:spcBef>
              <a:spcAft>
                <a:spcPts val="0"/>
              </a:spcAft>
              <a:buClr>
                <a:schemeClr val="dk1"/>
              </a:buClr>
              <a:buSzPts val="1100"/>
              <a:buFont typeface="Arial"/>
              <a:buNone/>
            </a:pPr>
            <a:r>
              <a:t/>
            </a:r>
            <a:endParaRPr sz="1100">
              <a:solidFill>
                <a:schemeClr val="dk2"/>
              </a:solidFill>
              <a:highlight>
                <a:srgbClr val="EFEFEF"/>
              </a:highlight>
            </a:endParaRPr>
          </a:p>
          <a:p>
            <a:pPr indent="-298450" lvl="0" marL="457200" rtl="0" algn="just">
              <a:spcBef>
                <a:spcPts val="0"/>
              </a:spcBef>
              <a:spcAft>
                <a:spcPts val="0"/>
              </a:spcAft>
              <a:buClr>
                <a:schemeClr val="dk2"/>
              </a:buClr>
              <a:buSzPts val="1100"/>
              <a:buChar char="●"/>
            </a:pPr>
            <a:r>
              <a:rPr lang="fr" sz="1100">
                <a:solidFill>
                  <a:schemeClr val="dk2"/>
                </a:solidFill>
              </a:rPr>
              <a:t>Création d’un fichier json contenant les coordonnées des limites de continents reformaté via Mapshaper (outil Opensource) pour obtenir une carte personnalisable sur Power BI en 3D.</a:t>
            </a:r>
            <a:endParaRPr sz="1100">
              <a:solidFill>
                <a:schemeClr val="dk2"/>
              </a:solidFill>
            </a:endParaRPr>
          </a:p>
          <a:p>
            <a:pPr indent="0" lvl="0" marL="457200" rtl="0" algn="just">
              <a:spcBef>
                <a:spcPts val="0"/>
              </a:spcBef>
              <a:spcAft>
                <a:spcPts val="0"/>
              </a:spcAft>
              <a:buClr>
                <a:schemeClr val="dk1"/>
              </a:buClr>
              <a:buSzPts val="1100"/>
              <a:buFont typeface="Arial"/>
              <a:buNone/>
            </a:pPr>
            <a:r>
              <a:t/>
            </a:r>
            <a:endParaRPr sz="1100">
              <a:solidFill>
                <a:schemeClr val="dk2"/>
              </a:solidFill>
            </a:endParaRPr>
          </a:p>
          <a:p>
            <a:pPr indent="-298450" lvl="0" marL="457200" rtl="0" algn="just">
              <a:spcBef>
                <a:spcPts val="0"/>
              </a:spcBef>
              <a:spcAft>
                <a:spcPts val="0"/>
              </a:spcAft>
              <a:buClr>
                <a:schemeClr val="dk2"/>
              </a:buClr>
              <a:buSzPts val="1100"/>
              <a:buChar char="●"/>
            </a:pPr>
            <a:r>
              <a:rPr lang="fr" sz="1100">
                <a:solidFill>
                  <a:schemeClr val="dk2"/>
                </a:solidFill>
              </a:rPr>
              <a:t>Scraping de données sur Wikipedia</a:t>
            </a:r>
            <a:endParaRPr sz="1100">
              <a:solidFill>
                <a:schemeClr val="dk1"/>
              </a:solidFill>
              <a:highlight>
                <a:srgbClr val="FF0000"/>
              </a:highlight>
            </a:endParaRPr>
          </a:p>
          <a:p>
            <a:pPr indent="0" lvl="0" marL="457200" rtl="0" algn="just">
              <a:spcBef>
                <a:spcPts val="0"/>
              </a:spcBef>
              <a:spcAft>
                <a:spcPts val="0"/>
              </a:spcAft>
              <a:buNone/>
            </a:pPr>
            <a:r>
              <a:t/>
            </a:r>
            <a:endParaRPr sz="1100">
              <a:solidFill>
                <a:schemeClr val="dk2"/>
              </a:solidFill>
            </a:endParaRPr>
          </a:p>
          <a:p>
            <a:pPr indent="0" lvl="0" marL="457200" rtl="0" algn="just">
              <a:spcBef>
                <a:spcPts val="0"/>
              </a:spcBef>
              <a:spcAft>
                <a:spcPts val="0"/>
              </a:spcAft>
              <a:buNone/>
            </a:pPr>
            <a:r>
              <a:t/>
            </a:r>
            <a:endParaRPr sz="1100">
              <a:solidFill>
                <a:schemeClr val="dk2"/>
              </a:solidFill>
              <a:highlight>
                <a:srgbClr val="EFEFEF"/>
              </a:highlight>
            </a:endParaRPr>
          </a:p>
        </p:txBody>
      </p:sp>
      <p:pic>
        <p:nvPicPr>
          <p:cNvPr id="133" name="Google Shape;133;p17" title="images.jpg"/>
          <p:cNvPicPr preferRelativeResize="0"/>
          <p:nvPr/>
        </p:nvPicPr>
        <p:blipFill>
          <a:blip r:embed="rId4">
            <a:alphaModFix/>
          </a:blip>
          <a:stretch>
            <a:fillRect/>
          </a:stretch>
        </p:blipFill>
        <p:spPr>
          <a:xfrm>
            <a:off x="4123700" y="1112538"/>
            <a:ext cx="548700" cy="546274"/>
          </a:xfrm>
          <a:prstGeom prst="rect">
            <a:avLst/>
          </a:prstGeom>
          <a:noFill/>
          <a:ln>
            <a:noFill/>
          </a:ln>
        </p:spPr>
      </p:pic>
      <p:sp>
        <p:nvSpPr>
          <p:cNvPr id="134" name="Google Shape;134;p17"/>
          <p:cNvSpPr/>
          <p:nvPr/>
        </p:nvSpPr>
        <p:spPr>
          <a:xfrm>
            <a:off x="4847950" y="782425"/>
            <a:ext cx="3832800" cy="3880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17"/>
          <p:cNvSpPr txBox="1"/>
          <p:nvPr/>
        </p:nvSpPr>
        <p:spPr>
          <a:xfrm>
            <a:off x="4895100" y="894600"/>
            <a:ext cx="3605100" cy="3806100"/>
          </a:xfrm>
          <a:prstGeom prst="rect">
            <a:avLst/>
          </a:prstGeom>
          <a:noFill/>
          <a:ln>
            <a:noFill/>
          </a:ln>
        </p:spPr>
        <p:txBody>
          <a:bodyPr anchorCtr="0" anchor="t" bIns="91425" lIns="91425" spcFirstLastPara="1" rIns="91425" wrap="square" tIns="91425">
            <a:noAutofit/>
          </a:bodyPr>
          <a:lstStyle/>
          <a:p>
            <a:pPr indent="-298450" lvl="0" marL="457200" rtl="0" algn="just">
              <a:spcBef>
                <a:spcPts val="0"/>
              </a:spcBef>
              <a:spcAft>
                <a:spcPts val="0"/>
              </a:spcAft>
              <a:buClr>
                <a:schemeClr val="dk2"/>
              </a:buClr>
              <a:buSzPts val="1100"/>
              <a:buChar char="●"/>
            </a:pPr>
            <a:r>
              <a:rPr lang="fr" sz="1100">
                <a:solidFill>
                  <a:schemeClr val="dk2"/>
                </a:solidFill>
              </a:rPr>
              <a:t>Dédoublonnage des données : 1208 doublons supprimés.</a:t>
            </a:r>
            <a:endParaRPr sz="1100">
              <a:solidFill>
                <a:schemeClr val="dk2"/>
              </a:solidFill>
            </a:endParaRPr>
          </a:p>
          <a:p>
            <a:pPr indent="0" lvl="0" marL="457200" rtl="0" algn="just">
              <a:spcBef>
                <a:spcPts val="0"/>
              </a:spcBef>
              <a:spcAft>
                <a:spcPts val="0"/>
              </a:spcAft>
              <a:buNone/>
            </a:pPr>
            <a:r>
              <a:t/>
            </a:r>
            <a:endParaRPr sz="1100">
              <a:solidFill>
                <a:schemeClr val="dk2"/>
              </a:solidFill>
            </a:endParaRPr>
          </a:p>
          <a:p>
            <a:pPr indent="-298450" lvl="0" marL="457200" rtl="0" algn="just">
              <a:spcBef>
                <a:spcPts val="0"/>
              </a:spcBef>
              <a:spcAft>
                <a:spcPts val="0"/>
              </a:spcAft>
              <a:buClr>
                <a:schemeClr val="dk2"/>
              </a:buClr>
              <a:buSzPts val="1100"/>
              <a:buChar char="●"/>
            </a:pPr>
            <a:r>
              <a:rPr lang="fr" sz="1100">
                <a:solidFill>
                  <a:schemeClr val="dk2"/>
                </a:solidFill>
              </a:rPr>
              <a:t>Suppression :</a:t>
            </a:r>
            <a:endParaRPr sz="1100">
              <a:solidFill>
                <a:schemeClr val="dk2"/>
              </a:solidFill>
            </a:endParaRPr>
          </a:p>
          <a:p>
            <a:pPr indent="-298450" lvl="1" marL="914400" rtl="0" algn="just">
              <a:spcBef>
                <a:spcPts val="0"/>
              </a:spcBef>
              <a:spcAft>
                <a:spcPts val="0"/>
              </a:spcAft>
              <a:buClr>
                <a:schemeClr val="dk2"/>
              </a:buClr>
              <a:buSzPts val="1100"/>
              <a:buChar char="○"/>
            </a:pPr>
            <a:r>
              <a:rPr lang="fr" sz="1100">
                <a:solidFill>
                  <a:schemeClr val="dk2"/>
                </a:solidFill>
              </a:rPr>
              <a:t>1 table “Results” </a:t>
            </a:r>
            <a:endParaRPr sz="1100">
              <a:solidFill>
                <a:schemeClr val="dk2"/>
              </a:solidFill>
            </a:endParaRPr>
          </a:p>
          <a:p>
            <a:pPr indent="-298450" lvl="1" marL="914400" rtl="0" algn="just">
              <a:spcBef>
                <a:spcPts val="0"/>
              </a:spcBef>
              <a:spcAft>
                <a:spcPts val="0"/>
              </a:spcAft>
              <a:buClr>
                <a:schemeClr val="dk2"/>
              </a:buClr>
              <a:buSzPts val="1100"/>
              <a:buChar char="○"/>
            </a:pPr>
            <a:r>
              <a:rPr lang="fr" sz="1100">
                <a:solidFill>
                  <a:schemeClr val="dk2"/>
                </a:solidFill>
              </a:rPr>
              <a:t>7 colonnes parmi les autres tables.</a:t>
            </a:r>
            <a:endParaRPr sz="1100">
              <a:solidFill>
                <a:schemeClr val="dk2"/>
              </a:solidFill>
            </a:endParaRPr>
          </a:p>
          <a:p>
            <a:pPr indent="0" lvl="0" marL="457200" rtl="0" algn="just">
              <a:spcBef>
                <a:spcPts val="0"/>
              </a:spcBef>
              <a:spcAft>
                <a:spcPts val="0"/>
              </a:spcAft>
              <a:buNone/>
            </a:pPr>
            <a:r>
              <a:t/>
            </a:r>
            <a:endParaRPr sz="1100">
              <a:solidFill>
                <a:schemeClr val="dk2"/>
              </a:solidFill>
              <a:highlight>
                <a:srgbClr val="EFEFEF"/>
              </a:highlight>
            </a:endParaRPr>
          </a:p>
          <a:p>
            <a:pPr indent="-298450" lvl="0" marL="457200" rtl="0" algn="just">
              <a:spcBef>
                <a:spcPts val="0"/>
              </a:spcBef>
              <a:spcAft>
                <a:spcPts val="0"/>
              </a:spcAft>
              <a:buClr>
                <a:schemeClr val="dk2"/>
              </a:buClr>
              <a:buSzPts val="1100"/>
              <a:buChar char="●"/>
            </a:pPr>
            <a:r>
              <a:rPr lang="fr" sz="1100">
                <a:solidFill>
                  <a:schemeClr val="dk2"/>
                </a:solidFill>
              </a:rPr>
              <a:t>Création :</a:t>
            </a:r>
            <a:endParaRPr sz="1100">
              <a:solidFill>
                <a:schemeClr val="dk2"/>
              </a:solidFill>
            </a:endParaRPr>
          </a:p>
          <a:p>
            <a:pPr indent="-298450" lvl="1" marL="914400" rtl="0" algn="just">
              <a:spcBef>
                <a:spcPts val="0"/>
              </a:spcBef>
              <a:spcAft>
                <a:spcPts val="0"/>
              </a:spcAft>
              <a:buClr>
                <a:schemeClr val="dk2"/>
              </a:buClr>
              <a:buSzPts val="1100"/>
              <a:buChar char="○"/>
            </a:pPr>
            <a:r>
              <a:rPr lang="fr" sz="1100">
                <a:solidFill>
                  <a:schemeClr val="dk2"/>
                </a:solidFill>
              </a:rPr>
              <a:t>colonnes “saison”, “continent”, “imc”, “ip” et “gender_category”.</a:t>
            </a:r>
            <a:endParaRPr sz="1100">
              <a:solidFill>
                <a:schemeClr val="dk2"/>
              </a:solidFill>
            </a:endParaRPr>
          </a:p>
          <a:p>
            <a:pPr indent="-298450" lvl="1" marL="914400" rtl="0" algn="just">
              <a:spcBef>
                <a:spcPts val="0"/>
              </a:spcBef>
              <a:spcAft>
                <a:spcPts val="0"/>
              </a:spcAft>
              <a:buClr>
                <a:schemeClr val="dk2"/>
              </a:buClr>
              <a:buSzPts val="1100"/>
              <a:buChar char="○"/>
            </a:pPr>
            <a:r>
              <a:rPr lang="fr" sz="1100">
                <a:solidFill>
                  <a:schemeClr val="dk2"/>
                </a:solidFill>
              </a:rPr>
              <a:t>clés “sport_event_id” et “sport_id” pour favoriser les jointures.</a:t>
            </a:r>
            <a:endParaRPr sz="1100">
              <a:solidFill>
                <a:schemeClr val="dk2"/>
              </a:solidFill>
            </a:endParaRPr>
          </a:p>
          <a:p>
            <a:pPr indent="0" lvl="0" marL="457200" rtl="0" algn="just">
              <a:spcBef>
                <a:spcPts val="0"/>
              </a:spcBef>
              <a:spcAft>
                <a:spcPts val="0"/>
              </a:spcAft>
              <a:buNone/>
            </a:pPr>
            <a:r>
              <a:t/>
            </a:r>
            <a:endParaRPr sz="1100">
              <a:solidFill>
                <a:schemeClr val="dk2"/>
              </a:solidFill>
            </a:endParaRPr>
          </a:p>
          <a:p>
            <a:pPr indent="-298450" lvl="0" marL="457200" rtl="0" algn="just">
              <a:spcBef>
                <a:spcPts val="0"/>
              </a:spcBef>
              <a:spcAft>
                <a:spcPts val="0"/>
              </a:spcAft>
              <a:buClr>
                <a:schemeClr val="dk2"/>
              </a:buClr>
              <a:buSzPts val="1100"/>
              <a:buChar char="●"/>
            </a:pPr>
            <a:r>
              <a:rPr lang="fr" sz="1100">
                <a:solidFill>
                  <a:schemeClr val="dk2"/>
                </a:solidFill>
              </a:rPr>
              <a:t>Remplacement de la valeur “1956 Equestrian Olympics” correspondant aux JO d’été de 1956.</a:t>
            </a:r>
            <a:endParaRPr sz="1100">
              <a:solidFill>
                <a:schemeClr val="dk2"/>
              </a:solidFill>
            </a:endParaRPr>
          </a:p>
          <a:p>
            <a:pPr indent="-298450" lvl="0" marL="457200" rtl="0" algn="just">
              <a:spcBef>
                <a:spcPts val="0"/>
              </a:spcBef>
              <a:spcAft>
                <a:spcPts val="0"/>
              </a:spcAft>
              <a:buClr>
                <a:schemeClr val="dk2"/>
              </a:buClr>
              <a:buSzPts val="1100"/>
              <a:buChar char="●"/>
            </a:pPr>
            <a:r>
              <a:rPr lang="fr" sz="1100">
                <a:solidFill>
                  <a:schemeClr val="dk2"/>
                </a:solidFill>
              </a:rPr>
              <a:t>Jointure de 3 tables pour obtenir l’âge de l’athlète au moment de l’olympiade.</a:t>
            </a:r>
            <a:endParaRPr sz="1100">
              <a:solidFill>
                <a:schemeClr val="dk2"/>
              </a:solidFill>
            </a:endParaRPr>
          </a:p>
          <a:p>
            <a:pPr indent="-298450" lvl="0" marL="457200" rtl="0" algn="just">
              <a:spcBef>
                <a:spcPts val="0"/>
              </a:spcBef>
              <a:spcAft>
                <a:spcPts val="0"/>
              </a:spcAft>
              <a:buClr>
                <a:schemeClr val="dk2"/>
              </a:buClr>
              <a:buSzPts val="1100"/>
              <a:buChar char="●"/>
            </a:pPr>
            <a:r>
              <a:rPr lang="fr" sz="1100">
                <a:solidFill>
                  <a:schemeClr val="dk2"/>
                </a:solidFill>
              </a:rPr>
              <a:t>Premières visualisations EDA pour déterminer les pistes à explorer</a:t>
            </a:r>
            <a:endParaRPr sz="1100">
              <a:solidFill>
                <a:schemeClr val="dk2"/>
              </a:solidFill>
            </a:endParaRPr>
          </a:p>
          <a:p>
            <a:pPr indent="-298450" lvl="0" marL="457200" rtl="0" algn="just">
              <a:spcBef>
                <a:spcPts val="0"/>
              </a:spcBef>
              <a:spcAft>
                <a:spcPts val="0"/>
              </a:spcAft>
              <a:buClr>
                <a:schemeClr val="dk2"/>
              </a:buClr>
              <a:buSzPts val="1100"/>
              <a:buChar char="●"/>
            </a:pPr>
            <a:r>
              <a:rPr lang="fr" sz="1100">
                <a:solidFill>
                  <a:schemeClr val="dk2"/>
                </a:solidFill>
              </a:rPr>
              <a:t>Enregistrement des différents fichiers .csv.</a:t>
            </a:r>
            <a:endParaRPr sz="1100">
              <a:solidFill>
                <a:schemeClr val="dk2"/>
              </a:solidFill>
            </a:endParaRPr>
          </a:p>
          <a:p>
            <a:pPr indent="0" lvl="0" marL="457200" rtl="0" algn="just">
              <a:spcBef>
                <a:spcPts val="0"/>
              </a:spcBef>
              <a:spcAft>
                <a:spcPts val="0"/>
              </a:spcAft>
              <a:buNone/>
            </a:pPr>
            <a:r>
              <a:t/>
            </a:r>
            <a:endParaRPr sz="1100">
              <a:solidFill>
                <a:schemeClr val="dk2"/>
              </a:solidFill>
              <a:highlight>
                <a:srgbClr val="EFEFEF"/>
              </a:highlight>
            </a:endParaRPr>
          </a:p>
          <a:p>
            <a:pPr indent="0" lvl="0" marL="457200" rtl="0" algn="just">
              <a:spcBef>
                <a:spcPts val="0"/>
              </a:spcBef>
              <a:spcAft>
                <a:spcPts val="0"/>
              </a:spcAft>
              <a:buNone/>
            </a:pPr>
            <a:r>
              <a:t/>
            </a:r>
            <a:endParaRPr sz="1100">
              <a:solidFill>
                <a:schemeClr val="dk2"/>
              </a:solidFill>
              <a:highlight>
                <a:srgbClr val="EFEFEF"/>
              </a:highlight>
            </a:endParaRPr>
          </a:p>
        </p:txBody>
      </p:sp>
      <p:sp>
        <p:nvSpPr>
          <p:cNvPr id="136" name="Google Shape;136;p17"/>
          <p:cNvSpPr/>
          <p:nvPr/>
        </p:nvSpPr>
        <p:spPr>
          <a:xfrm>
            <a:off x="4011188" y="2298600"/>
            <a:ext cx="773700" cy="546300"/>
          </a:xfrm>
          <a:prstGeom prst="notch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18"/>
          <p:cNvPicPr preferRelativeResize="0"/>
          <p:nvPr/>
        </p:nvPicPr>
        <p:blipFill rotWithShape="1">
          <a:blip r:embed="rId3">
            <a:alphaModFix/>
          </a:blip>
          <a:srcRect b="0" l="0" r="0" t="0"/>
          <a:stretch/>
        </p:blipFill>
        <p:spPr>
          <a:xfrm>
            <a:off x="213300" y="183827"/>
            <a:ext cx="576900" cy="385904"/>
          </a:xfrm>
          <a:prstGeom prst="rect">
            <a:avLst/>
          </a:prstGeom>
          <a:noFill/>
          <a:ln>
            <a:noFill/>
          </a:ln>
        </p:spPr>
      </p:pic>
      <p:sp>
        <p:nvSpPr>
          <p:cNvPr id="142" name="Google Shape;14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
        <p:nvSpPr>
          <p:cNvPr id="143" name="Google Shape;143;p18"/>
          <p:cNvSpPr/>
          <p:nvPr/>
        </p:nvSpPr>
        <p:spPr>
          <a:xfrm>
            <a:off x="990150" y="77975"/>
            <a:ext cx="7711200" cy="53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800">
                <a:solidFill>
                  <a:srgbClr val="0E3449"/>
                </a:solidFill>
              </a:rPr>
              <a:t>Premières visualisations</a:t>
            </a:r>
            <a:endParaRPr b="1" sz="1800"/>
          </a:p>
        </p:txBody>
      </p:sp>
      <p:sp>
        <p:nvSpPr>
          <p:cNvPr id="144" name="Google Shape;144;p18"/>
          <p:cNvSpPr/>
          <p:nvPr/>
        </p:nvSpPr>
        <p:spPr>
          <a:xfrm>
            <a:off x="990150" y="845500"/>
            <a:ext cx="7711200" cy="3880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8"/>
          <p:cNvSpPr txBox="1"/>
          <p:nvPr/>
        </p:nvSpPr>
        <p:spPr>
          <a:xfrm>
            <a:off x="1498500" y="1023375"/>
            <a:ext cx="6333000" cy="3415800"/>
          </a:xfrm>
          <a:prstGeom prst="rect">
            <a:avLst/>
          </a:prstGeom>
          <a:noFill/>
          <a:ln>
            <a:noFill/>
          </a:ln>
        </p:spPr>
        <p:txBody>
          <a:bodyPr anchorCtr="0" anchor="t" bIns="91425" lIns="91425" spcFirstLastPara="1" rIns="91425" wrap="square" tIns="91425">
            <a:noAutofit/>
          </a:bodyPr>
          <a:lstStyle/>
          <a:p>
            <a:pPr indent="0" lvl="0" marL="457200" rtl="0" algn="just">
              <a:spcBef>
                <a:spcPts val="0"/>
              </a:spcBef>
              <a:spcAft>
                <a:spcPts val="0"/>
              </a:spcAft>
              <a:buNone/>
            </a:pPr>
            <a:r>
              <a:t/>
            </a:r>
            <a:endParaRPr>
              <a:solidFill>
                <a:schemeClr val="dk2"/>
              </a:solidFill>
            </a:endParaRPr>
          </a:p>
          <a:p>
            <a:pPr indent="0" lvl="0" marL="457200" rtl="0" algn="just">
              <a:spcBef>
                <a:spcPts val="0"/>
              </a:spcBef>
              <a:spcAft>
                <a:spcPts val="0"/>
              </a:spcAft>
              <a:buNone/>
            </a:pPr>
            <a:r>
              <a:t/>
            </a:r>
            <a:endParaRPr sz="1500">
              <a:solidFill>
                <a:schemeClr val="dk2"/>
              </a:solidFill>
              <a:highlight>
                <a:srgbClr val="EFEFEF"/>
              </a:highlight>
            </a:endParaRPr>
          </a:p>
          <a:p>
            <a:pPr indent="0" lvl="0" marL="457200" rtl="0" algn="just">
              <a:spcBef>
                <a:spcPts val="0"/>
              </a:spcBef>
              <a:spcAft>
                <a:spcPts val="0"/>
              </a:spcAft>
              <a:buNone/>
            </a:pPr>
            <a:r>
              <a:t/>
            </a:r>
            <a:endParaRPr sz="1500">
              <a:solidFill>
                <a:schemeClr val="dk2"/>
              </a:solidFill>
              <a:highlight>
                <a:srgbClr val="EFEFEF"/>
              </a:highlight>
            </a:endParaRPr>
          </a:p>
        </p:txBody>
      </p:sp>
      <p:pic>
        <p:nvPicPr>
          <p:cNvPr id="146" name="Google Shape;146;p18" title="newplot.png"/>
          <p:cNvPicPr preferRelativeResize="0"/>
          <p:nvPr/>
        </p:nvPicPr>
        <p:blipFill>
          <a:blip r:embed="rId4">
            <a:alphaModFix/>
          </a:blip>
          <a:stretch>
            <a:fillRect/>
          </a:stretch>
        </p:blipFill>
        <p:spPr>
          <a:xfrm>
            <a:off x="1184775" y="2856225"/>
            <a:ext cx="2374425" cy="1582950"/>
          </a:xfrm>
          <a:prstGeom prst="rect">
            <a:avLst/>
          </a:prstGeom>
          <a:noFill/>
          <a:ln>
            <a:noFill/>
          </a:ln>
        </p:spPr>
      </p:pic>
      <p:pic>
        <p:nvPicPr>
          <p:cNvPr id="147" name="Google Shape;147;p18" title="output.png"/>
          <p:cNvPicPr preferRelativeResize="0"/>
          <p:nvPr/>
        </p:nvPicPr>
        <p:blipFill>
          <a:blip r:embed="rId5">
            <a:alphaModFix/>
          </a:blip>
          <a:stretch>
            <a:fillRect/>
          </a:stretch>
        </p:blipFill>
        <p:spPr>
          <a:xfrm>
            <a:off x="5839850" y="3011463"/>
            <a:ext cx="2632598" cy="1430250"/>
          </a:xfrm>
          <a:prstGeom prst="rect">
            <a:avLst/>
          </a:prstGeom>
          <a:noFill/>
          <a:ln>
            <a:noFill/>
          </a:ln>
        </p:spPr>
      </p:pic>
      <p:pic>
        <p:nvPicPr>
          <p:cNvPr id="148" name="Google Shape;148;p18" title="heatmap.png"/>
          <p:cNvPicPr preferRelativeResize="0"/>
          <p:nvPr/>
        </p:nvPicPr>
        <p:blipFill>
          <a:blip r:embed="rId6">
            <a:alphaModFix/>
          </a:blip>
          <a:stretch>
            <a:fillRect/>
          </a:stretch>
        </p:blipFill>
        <p:spPr>
          <a:xfrm>
            <a:off x="5839850" y="1014050"/>
            <a:ext cx="2632601" cy="1863150"/>
          </a:xfrm>
          <a:prstGeom prst="rect">
            <a:avLst/>
          </a:prstGeom>
          <a:noFill/>
          <a:ln>
            <a:noFill/>
          </a:ln>
        </p:spPr>
      </p:pic>
      <p:pic>
        <p:nvPicPr>
          <p:cNvPr id="149" name="Google Shape;149;p18" title="gender.png"/>
          <p:cNvPicPr preferRelativeResize="0"/>
          <p:nvPr/>
        </p:nvPicPr>
        <p:blipFill>
          <a:blip r:embed="rId7">
            <a:alphaModFix/>
          </a:blip>
          <a:stretch>
            <a:fillRect/>
          </a:stretch>
        </p:blipFill>
        <p:spPr>
          <a:xfrm>
            <a:off x="1184776" y="1096275"/>
            <a:ext cx="2374426" cy="1582950"/>
          </a:xfrm>
          <a:prstGeom prst="rect">
            <a:avLst/>
          </a:prstGeom>
          <a:noFill/>
          <a:ln>
            <a:noFill/>
          </a:ln>
        </p:spPr>
      </p:pic>
      <p:sp>
        <p:nvSpPr>
          <p:cNvPr id="150" name="Google Shape;150;p18"/>
          <p:cNvSpPr txBox="1"/>
          <p:nvPr/>
        </p:nvSpPr>
        <p:spPr>
          <a:xfrm>
            <a:off x="3559200" y="1023375"/>
            <a:ext cx="2211600" cy="3415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fr" sz="1300">
                <a:solidFill>
                  <a:schemeClr val="dk2"/>
                </a:solidFill>
              </a:rPr>
              <a:t>Les premières visualisations codées en Python nous ont donné les premières pistes de travail à développer sur Power BI.</a:t>
            </a:r>
            <a:endParaRPr sz="1300">
              <a:solidFill>
                <a:schemeClr val="dk2"/>
              </a:solidFill>
            </a:endParaRPr>
          </a:p>
          <a:p>
            <a:pPr indent="0" lvl="0" marL="0" rtl="0" algn="just">
              <a:spcBef>
                <a:spcPts val="0"/>
              </a:spcBef>
              <a:spcAft>
                <a:spcPts val="0"/>
              </a:spcAft>
              <a:buNone/>
            </a:pPr>
            <a:r>
              <a:t/>
            </a:r>
            <a:endParaRPr sz="1300">
              <a:solidFill>
                <a:schemeClr val="dk2"/>
              </a:solidFill>
            </a:endParaRPr>
          </a:p>
          <a:p>
            <a:pPr indent="0" lvl="0" marL="0" rtl="0" algn="just">
              <a:spcBef>
                <a:spcPts val="0"/>
              </a:spcBef>
              <a:spcAft>
                <a:spcPts val="0"/>
              </a:spcAft>
              <a:buNone/>
            </a:pPr>
            <a:r>
              <a:t/>
            </a:r>
            <a:endParaRPr sz="1300">
              <a:solidFill>
                <a:schemeClr val="dk2"/>
              </a:solidFill>
            </a:endParaRPr>
          </a:p>
          <a:p>
            <a:pPr indent="0" lvl="0" marL="0" rtl="0" algn="just">
              <a:spcBef>
                <a:spcPts val="0"/>
              </a:spcBef>
              <a:spcAft>
                <a:spcPts val="0"/>
              </a:spcAft>
              <a:buNone/>
            </a:pPr>
            <a:r>
              <a:t/>
            </a:r>
            <a:endParaRPr sz="1300">
              <a:solidFill>
                <a:schemeClr val="dk2"/>
              </a:solidFill>
            </a:endParaRPr>
          </a:p>
          <a:p>
            <a:pPr indent="0" lvl="0" marL="0" rtl="0" algn="just">
              <a:spcBef>
                <a:spcPts val="0"/>
              </a:spcBef>
              <a:spcAft>
                <a:spcPts val="0"/>
              </a:spcAft>
              <a:buNone/>
            </a:pPr>
            <a:r>
              <a:t/>
            </a:r>
            <a:endParaRPr sz="1300">
              <a:solidFill>
                <a:schemeClr val="dk2"/>
              </a:solidFill>
            </a:endParaRPr>
          </a:p>
          <a:p>
            <a:pPr indent="0" lvl="0" marL="0" rtl="0" algn="just">
              <a:spcBef>
                <a:spcPts val="0"/>
              </a:spcBef>
              <a:spcAft>
                <a:spcPts val="0"/>
              </a:spcAft>
              <a:buNone/>
            </a:pPr>
            <a:r>
              <a:rPr lang="fr" sz="1300">
                <a:solidFill>
                  <a:schemeClr val="dk2"/>
                </a:solidFill>
              </a:rPr>
              <a:t>A contrario, l’étude du lien entre l’obtention d’une médaille et le genre, la corpulence ou encore l’âge  a été abandonnée suite à la création de cette matrice de corrélation peu parlante.</a:t>
            </a:r>
            <a:endParaRPr sz="13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19"/>
          <p:cNvPicPr preferRelativeResize="0"/>
          <p:nvPr/>
        </p:nvPicPr>
        <p:blipFill rotWithShape="1">
          <a:blip r:embed="rId3">
            <a:alphaModFix/>
          </a:blip>
          <a:srcRect b="0" l="0" r="0" t="0"/>
          <a:stretch/>
        </p:blipFill>
        <p:spPr>
          <a:xfrm>
            <a:off x="213300" y="183827"/>
            <a:ext cx="576900" cy="385904"/>
          </a:xfrm>
          <a:prstGeom prst="rect">
            <a:avLst/>
          </a:prstGeom>
          <a:noFill/>
          <a:ln>
            <a:noFill/>
          </a:ln>
        </p:spPr>
      </p:pic>
      <p:sp>
        <p:nvSpPr>
          <p:cNvPr id="156" name="Google Shape;15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
        <p:nvSpPr>
          <p:cNvPr id="157" name="Google Shape;157;p19"/>
          <p:cNvSpPr/>
          <p:nvPr/>
        </p:nvSpPr>
        <p:spPr>
          <a:xfrm>
            <a:off x="990150" y="77975"/>
            <a:ext cx="7349700" cy="53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800">
                <a:solidFill>
                  <a:srgbClr val="0E3449"/>
                </a:solidFill>
              </a:rPr>
              <a:t>Schéma Galaxy</a:t>
            </a:r>
            <a:r>
              <a:rPr b="1" lang="fr" sz="1800">
                <a:solidFill>
                  <a:srgbClr val="0E3449"/>
                </a:solidFill>
              </a:rPr>
              <a:t>  OLTP / OLAP</a:t>
            </a:r>
            <a:endParaRPr b="1" sz="100"/>
          </a:p>
        </p:txBody>
      </p:sp>
      <p:sp>
        <p:nvSpPr>
          <p:cNvPr id="158" name="Google Shape;158;p19"/>
          <p:cNvSpPr/>
          <p:nvPr/>
        </p:nvSpPr>
        <p:spPr>
          <a:xfrm>
            <a:off x="990150" y="857250"/>
            <a:ext cx="7482300" cy="3880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19"/>
          <p:cNvSpPr txBox="1"/>
          <p:nvPr/>
        </p:nvSpPr>
        <p:spPr>
          <a:xfrm>
            <a:off x="1501850" y="1136350"/>
            <a:ext cx="6333000" cy="3415800"/>
          </a:xfrm>
          <a:prstGeom prst="rect">
            <a:avLst/>
          </a:prstGeom>
          <a:noFill/>
          <a:ln>
            <a:noFill/>
          </a:ln>
        </p:spPr>
        <p:txBody>
          <a:bodyPr anchorCtr="0" anchor="t" bIns="91425" lIns="91425" spcFirstLastPara="1" rIns="91425" wrap="square" tIns="91425">
            <a:noAutofit/>
          </a:bodyPr>
          <a:lstStyle/>
          <a:p>
            <a:pPr indent="0" lvl="0" marL="457200" rtl="0" algn="just">
              <a:spcBef>
                <a:spcPts val="0"/>
              </a:spcBef>
              <a:spcAft>
                <a:spcPts val="0"/>
              </a:spcAft>
              <a:buNone/>
            </a:pPr>
            <a:r>
              <a:t/>
            </a:r>
            <a:endParaRPr sz="1500">
              <a:solidFill>
                <a:schemeClr val="dk2"/>
              </a:solidFill>
              <a:highlight>
                <a:srgbClr val="EFEFEF"/>
              </a:highlight>
            </a:endParaRPr>
          </a:p>
          <a:p>
            <a:pPr indent="0" lvl="0" marL="457200" rtl="0" algn="just">
              <a:spcBef>
                <a:spcPts val="0"/>
              </a:spcBef>
              <a:spcAft>
                <a:spcPts val="0"/>
              </a:spcAft>
              <a:buNone/>
            </a:pPr>
            <a:r>
              <a:t/>
            </a:r>
            <a:endParaRPr sz="1500">
              <a:solidFill>
                <a:schemeClr val="dk2"/>
              </a:solidFill>
              <a:highlight>
                <a:srgbClr val="EFEFEF"/>
              </a:highlight>
            </a:endParaRPr>
          </a:p>
        </p:txBody>
      </p:sp>
      <p:pic>
        <p:nvPicPr>
          <p:cNvPr id="160" name="Google Shape;160;p19" title="Capture d'écran 2025-12-17 131503.png"/>
          <p:cNvPicPr preferRelativeResize="0"/>
          <p:nvPr/>
        </p:nvPicPr>
        <p:blipFill>
          <a:blip r:embed="rId4">
            <a:alphaModFix/>
          </a:blip>
          <a:stretch>
            <a:fillRect/>
          </a:stretch>
        </p:blipFill>
        <p:spPr>
          <a:xfrm>
            <a:off x="1469875" y="903875"/>
            <a:ext cx="6462676" cy="3787550"/>
          </a:xfrm>
          <a:prstGeom prst="rect">
            <a:avLst/>
          </a:prstGeom>
          <a:noFill/>
          <a:ln>
            <a:noFill/>
          </a:ln>
        </p:spPr>
      </p:pic>
      <p:pic>
        <p:nvPicPr>
          <p:cNvPr id="161" name="Google Shape;161;p19"/>
          <p:cNvPicPr preferRelativeResize="0"/>
          <p:nvPr/>
        </p:nvPicPr>
        <p:blipFill rotWithShape="1">
          <a:blip r:embed="rId5">
            <a:alphaModFix/>
          </a:blip>
          <a:srcRect b="0" l="0" r="0" t="0"/>
          <a:stretch/>
        </p:blipFill>
        <p:spPr>
          <a:xfrm>
            <a:off x="1031525" y="1328872"/>
            <a:ext cx="470323" cy="4703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0"/>
          <p:cNvPicPr preferRelativeResize="0"/>
          <p:nvPr/>
        </p:nvPicPr>
        <p:blipFill rotWithShape="1">
          <a:blip r:embed="rId3">
            <a:alphaModFix/>
          </a:blip>
          <a:srcRect b="0" l="0" r="0" t="0"/>
          <a:stretch/>
        </p:blipFill>
        <p:spPr>
          <a:xfrm>
            <a:off x="213300" y="183827"/>
            <a:ext cx="576900" cy="385904"/>
          </a:xfrm>
          <a:prstGeom prst="rect">
            <a:avLst/>
          </a:prstGeom>
          <a:noFill/>
          <a:ln>
            <a:noFill/>
          </a:ln>
        </p:spPr>
      </p:pic>
      <p:sp>
        <p:nvSpPr>
          <p:cNvPr id="167" name="Google Shape;167;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
        <p:nvSpPr>
          <p:cNvPr id="168" name="Google Shape;168;p20"/>
          <p:cNvSpPr/>
          <p:nvPr/>
        </p:nvSpPr>
        <p:spPr>
          <a:xfrm>
            <a:off x="990150" y="77975"/>
            <a:ext cx="7349700" cy="53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800">
                <a:solidFill>
                  <a:srgbClr val="0E3449"/>
                </a:solidFill>
              </a:rPr>
              <a:t>“Plus vite, Plus haut, Plus fort!”</a:t>
            </a:r>
            <a:endParaRPr b="1" sz="800"/>
          </a:p>
        </p:txBody>
      </p:sp>
      <p:sp>
        <p:nvSpPr>
          <p:cNvPr id="169" name="Google Shape;169;p20"/>
          <p:cNvSpPr/>
          <p:nvPr/>
        </p:nvSpPr>
        <p:spPr>
          <a:xfrm>
            <a:off x="990150" y="857250"/>
            <a:ext cx="7482300" cy="3880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0"/>
          <p:cNvSpPr txBox="1"/>
          <p:nvPr/>
        </p:nvSpPr>
        <p:spPr>
          <a:xfrm>
            <a:off x="1501850" y="1136350"/>
            <a:ext cx="6333000" cy="34158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chemeClr val="dk2"/>
              </a:buClr>
              <a:buSzPts val="1400"/>
              <a:buChar char="●"/>
            </a:pPr>
            <a:r>
              <a:rPr lang="fr">
                <a:solidFill>
                  <a:schemeClr val="dk2"/>
                </a:solidFill>
              </a:rPr>
              <a:t>Synthèse et chiffres clés de 126 ans d’Olympisme</a:t>
            </a:r>
            <a:endParaRPr>
              <a:solidFill>
                <a:schemeClr val="dk2"/>
              </a:solidFill>
            </a:endParaRPr>
          </a:p>
          <a:p>
            <a:pPr indent="0" lvl="0" marL="457200" rtl="0" algn="just">
              <a:spcBef>
                <a:spcPts val="0"/>
              </a:spcBef>
              <a:spcAft>
                <a:spcPts val="0"/>
              </a:spcAft>
              <a:buNone/>
            </a:pPr>
            <a:r>
              <a:t/>
            </a:r>
            <a:endParaRPr>
              <a:solidFill>
                <a:schemeClr val="dk2"/>
              </a:solidFill>
            </a:endParaRPr>
          </a:p>
          <a:p>
            <a:pPr indent="-317500" lvl="0" marL="457200" rtl="0" algn="just">
              <a:spcBef>
                <a:spcPts val="0"/>
              </a:spcBef>
              <a:spcAft>
                <a:spcPts val="0"/>
              </a:spcAft>
              <a:buClr>
                <a:schemeClr val="dk2"/>
              </a:buClr>
              <a:buSzPts val="1400"/>
              <a:buChar char="●"/>
            </a:pPr>
            <a:r>
              <a:rPr lang="fr">
                <a:solidFill>
                  <a:schemeClr val="dk2"/>
                </a:solidFill>
              </a:rPr>
              <a:t>Evolution des athlètes à travers les différentes éditions</a:t>
            </a:r>
            <a:endParaRPr>
              <a:solidFill>
                <a:schemeClr val="dk2"/>
              </a:solidFill>
            </a:endParaRPr>
          </a:p>
          <a:p>
            <a:pPr indent="0" lvl="0" marL="457200" rtl="0" algn="just">
              <a:spcBef>
                <a:spcPts val="0"/>
              </a:spcBef>
              <a:spcAft>
                <a:spcPts val="0"/>
              </a:spcAft>
              <a:buNone/>
            </a:pPr>
            <a:r>
              <a:t/>
            </a:r>
            <a:endParaRPr>
              <a:solidFill>
                <a:schemeClr val="dk2"/>
              </a:solidFill>
            </a:endParaRPr>
          </a:p>
          <a:p>
            <a:pPr indent="-317500" lvl="0" marL="457200" rtl="0" algn="just">
              <a:spcBef>
                <a:spcPts val="0"/>
              </a:spcBef>
              <a:spcAft>
                <a:spcPts val="0"/>
              </a:spcAft>
              <a:buClr>
                <a:schemeClr val="dk2"/>
              </a:buClr>
              <a:buSzPts val="1400"/>
              <a:buChar char="●"/>
            </a:pPr>
            <a:r>
              <a:rPr lang="fr">
                <a:solidFill>
                  <a:schemeClr val="dk2"/>
                </a:solidFill>
              </a:rPr>
              <a:t>Analyse sur les différentes disciplines</a:t>
            </a:r>
            <a:endParaRPr>
              <a:solidFill>
                <a:schemeClr val="dk2"/>
              </a:solidFill>
            </a:endParaRPr>
          </a:p>
          <a:p>
            <a:pPr indent="0" lvl="0" marL="457200" rtl="0" algn="just">
              <a:spcBef>
                <a:spcPts val="0"/>
              </a:spcBef>
              <a:spcAft>
                <a:spcPts val="0"/>
              </a:spcAft>
              <a:buNone/>
            </a:pPr>
            <a:r>
              <a:t/>
            </a:r>
            <a:endParaRPr>
              <a:solidFill>
                <a:schemeClr val="dk2"/>
              </a:solidFill>
            </a:endParaRPr>
          </a:p>
          <a:p>
            <a:pPr indent="-317500" lvl="0" marL="457200" rtl="0" algn="just">
              <a:spcBef>
                <a:spcPts val="0"/>
              </a:spcBef>
              <a:spcAft>
                <a:spcPts val="0"/>
              </a:spcAft>
              <a:buClr>
                <a:schemeClr val="dk2"/>
              </a:buClr>
              <a:buSzPts val="1400"/>
              <a:buChar char="●"/>
            </a:pPr>
            <a:r>
              <a:rPr lang="fr">
                <a:solidFill>
                  <a:schemeClr val="dk2"/>
                </a:solidFill>
              </a:rPr>
              <a:t>Répartition des médailles et domination de certaines nations et continents</a:t>
            </a:r>
            <a:endParaRPr>
              <a:solidFill>
                <a:schemeClr val="dk2"/>
              </a:solidFill>
            </a:endParaRPr>
          </a:p>
          <a:p>
            <a:pPr indent="0" lvl="0" marL="457200" rtl="0" algn="just">
              <a:spcBef>
                <a:spcPts val="0"/>
              </a:spcBef>
              <a:spcAft>
                <a:spcPts val="0"/>
              </a:spcAft>
              <a:buNone/>
            </a:pPr>
            <a:r>
              <a:t/>
            </a:r>
            <a:endParaRPr>
              <a:solidFill>
                <a:schemeClr val="dk2"/>
              </a:solidFill>
            </a:endParaRPr>
          </a:p>
          <a:p>
            <a:pPr indent="-317500" lvl="0" marL="457200" rtl="0" algn="just">
              <a:spcBef>
                <a:spcPts val="0"/>
              </a:spcBef>
              <a:spcAft>
                <a:spcPts val="0"/>
              </a:spcAft>
              <a:buClr>
                <a:schemeClr val="dk2"/>
              </a:buClr>
              <a:buSzPts val="1400"/>
              <a:buChar char="●"/>
            </a:pPr>
            <a:r>
              <a:rPr lang="fr">
                <a:solidFill>
                  <a:schemeClr val="dk2"/>
                </a:solidFill>
              </a:rPr>
              <a:t>Dopage &amp; tricherie : prise de conscience de l’impact géopolitique sur le sport ? </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l">
              <a:spcBef>
                <a:spcPts val="0"/>
              </a:spcBef>
              <a:spcAft>
                <a:spcPts val="0"/>
              </a:spcAft>
              <a:buNone/>
            </a:pPr>
            <a:r>
              <a:rPr lang="fr">
                <a:solidFill>
                  <a:schemeClr val="dk2"/>
                </a:solidFill>
              </a:rPr>
              <a:t>		</a:t>
            </a:r>
            <a:endParaRPr>
              <a:solidFill>
                <a:schemeClr val="dk2"/>
              </a:solidFill>
            </a:endParaRPr>
          </a:p>
          <a:p>
            <a:pPr indent="0" lvl="0" marL="457200" rtl="0" algn="just">
              <a:spcBef>
                <a:spcPts val="0"/>
              </a:spcBef>
              <a:spcAft>
                <a:spcPts val="0"/>
              </a:spcAft>
              <a:buNone/>
            </a:pPr>
            <a:r>
              <a:rPr lang="fr">
                <a:solidFill>
                  <a:schemeClr val="dk2"/>
                </a:solidFill>
              </a:rPr>
              <a:t>	</a:t>
            </a:r>
            <a:endParaRPr>
              <a:solidFill>
                <a:schemeClr val="dk2"/>
              </a:solidFill>
            </a:endParaRPr>
          </a:p>
          <a:p>
            <a:pPr indent="0" lvl="0" marL="457200" rtl="0" algn="just">
              <a:spcBef>
                <a:spcPts val="0"/>
              </a:spcBef>
              <a:spcAft>
                <a:spcPts val="0"/>
              </a:spcAft>
              <a:buNone/>
            </a:pPr>
            <a:r>
              <a:rPr lang="fr">
                <a:solidFill>
                  <a:schemeClr val="dk2"/>
                </a:solidFill>
              </a:rPr>
              <a:t>	</a:t>
            </a:r>
            <a:endParaRPr>
              <a:solidFill>
                <a:schemeClr val="dk2"/>
              </a:solidFill>
            </a:endParaRPr>
          </a:p>
          <a:p>
            <a:pPr indent="0" lvl="0" marL="457200" rtl="0" algn="just">
              <a:spcBef>
                <a:spcPts val="0"/>
              </a:spcBef>
              <a:spcAft>
                <a:spcPts val="0"/>
              </a:spcAft>
              <a:buNone/>
            </a:pPr>
            <a:r>
              <a:t/>
            </a:r>
            <a:endParaRPr sz="1500">
              <a:solidFill>
                <a:schemeClr val="dk2"/>
              </a:solidFill>
              <a:highlight>
                <a:srgbClr val="EFEFEF"/>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21"/>
          <p:cNvPicPr preferRelativeResize="0"/>
          <p:nvPr/>
        </p:nvPicPr>
        <p:blipFill rotWithShape="1">
          <a:blip r:embed="rId3">
            <a:alphaModFix/>
          </a:blip>
          <a:srcRect b="0" l="0" r="0" t="0"/>
          <a:stretch/>
        </p:blipFill>
        <p:spPr>
          <a:xfrm>
            <a:off x="268400" y="128727"/>
            <a:ext cx="576900" cy="385904"/>
          </a:xfrm>
          <a:prstGeom prst="rect">
            <a:avLst/>
          </a:prstGeom>
          <a:noFill/>
          <a:ln>
            <a:noFill/>
          </a:ln>
        </p:spPr>
      </p:pic>
      <p:sp>
        <p:nvSpPr>
          <p:cNvPr id="176" name="Google Shape;176;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pic>
        <p:nvPicPr>
          <p:cNvPr id="177" name="Google Shape;177;p21" title="Capture d'écran 2025-12-17 160549.png"/>
          <p:cNvPicPr preferRelativeResize="0"/>
          <p:nvPr/>
        </p:nvPicPr>
        <p:blipFill>
          <a:blip r:embed="rId4">
            <a:alphaModFix/>
          </a:blip>
          <a:stretch>
            <a:fillRect/>
          </a:stretch>
        </p:blipFill>
        <p:spPr>
          <a:xfrm>
            <a:off x="1082725" y="1021150"/>
            <a:ext cx="7217101" cy="779675"/>
          </a:xfrm>
          <a:prstGeom prst="rect">
            <a:avLst/>
          </a:prstGeom>
          <a:noFill/>
          <a:ln>
            <a:noFill/>
          </a:ln>
        </p:spPr>
      </p:pic>
      <p:pic>
        <p:nvPicPr>
          <p:cNvPr id="178" name="Google Shape;178;p21" title="Capture d'écran 2025-12-17 160627.png"/>
          <p:cNvPicPr preferRelativeResize="0"/>
          <p:nvPr/>
        </p:nvPicPr>
        <p:blipFill>
          <a:blip r:embed="rId5">
            <a:alphaModFix/>
          </a:blip>
          <a:stretch>
            <a:fillRect/>
          </a:stretch>
        </p:blipFill>
        <p:spPr>
          <a:xfrm>
            <a:off x="1082725" y="1929319"/>
            <a:ext cx="3562350" cy="1314450"/>
          </a:xfrm>
          <a:prstGeom prst="rect">
            <a:avLst/>
          </a:prstGeom>
          <a:noFill/>
          <a:ln>
            <a:noFill/>
          </a:ln>
        </p:spPr>
      </p:pic>
      <p:pic>
        <p:nvPicPr>
          <p:cNvPr id="179" name="Google Shape;179;p21" title="Capture d'écran 2025-12-17 160605.png"/>
          <p:cNvPicPr preferRelativeResize="0"/>
          <p:nvPr/>
        </p:nvPicPr>
        <p:blipFill>
          <a:blip r:embed="rId6">
            <a:alphaModFix/>
          </a:blip>
          <a:stretch>
            <a:fillRect/>
          </a:stretch>
        </p:blipFill>
        <p:spPr>
          <a:xfrm>
            <a:off x="5392250" y="3348775"/>
            <a:ext cx="2907450" cy="1314450"/>
          </a:xfrm>
          <a:prstGeom prst="rect">
            <a:avLst/>
          </a:prstGeom>
          <a:noFill/>
          <a:ln>
            <a:noFill/>
          </a:ln>
        </p:spPr>
      </p:pic>
      <p:pic>
        <p:nvPicPr>
          <p:cNvPr id="180" name="Google Shape;180;p21" title="Capture d'écran 2025-12-17 160616.png"/>
          <p:cNvPicPr preferRelativeResize="0"/>
          <p:nvPr/>
        </p:nvPicPr>
        <p:blipFill>
          <a:blip r:embed="rId7">
            <a:alphaModFix/>
          </a:blip>
          <a:stretch>
            <a:fillRect/>
          </a:stretch>
        </p:blipFill>
        <p:spPr>
          <a:xfrm>
            <a:off x="5392249" y="1918075"/>
            <a:ext cx="2907450" cy="1246425"/>
          </a:xfrm>
          <a:prstGeom prst="rect">
            <a:avLst/>
          </a:prstGeom>
          <a:noFill/>
          <a:ln>
            <a:noFill/>
          </a:ln>
        </p:spPr>
      </p:pic>
      <p:pic>
        <p:nvPicPr>
          <p:cNvPr id="181" name="Google Shape;181;p21" title="Capture d'écran 2025-12-17 160536.png"/>
          <p:cNvPicPr preferRelativeResize="0"/>
          <p:nvPr/>
        </p:nvPicPr>
        <p:blipFill>
          <a:blip r:embed="rId8">
            <a:alphaModFix/>
          </a:blip>
          <a:stretch>
            <a:fillRect/>
          </a:stretch>
        </p:blipFill>
        <p:spPr>
          <a:xfrm>
            <a:off x="1082725" y="3372275"/>
            <a:ext cx="1974325" cy="1494075"/>
          </a:xfrm>
          <a:prstGeom prst="rect">
            <a:avLst/>
          </a:prstGeom>
          <a:noFill/>
          <a:ln>
            <a:noFill/>
          </a:ln>
        </p:spPr>
      </p:pic>
      <p:sp>
        <p:nvSpPr>
          <p:cNvPr id="182" name="Google Shape;182;p21"/>
          <p:cNvSpPr/>
          <p:nvPr/>
        </p:nvSpPr>
        <p:spPr>
          <a:xfrm>
            <a:off x="1082725" y="55125"/>
            <a:ext cx="7217100" cy="53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800">
                <a:solidFill>
                  <a:srgbClr val="0E3449"/>
                </a:solidFill>
              </a:rPr>
              <a:t>Synthèse et chiffres clés de 126 ans d’olympisme</a:t>
            </a:r>
            <a:endParaRPr b="1" sz="800"/>
          </a:p>
        </p:txBody>
      </p:sp>
      <p:sp>
        <p:nvSpPr>
          <p:cNvPr id="183" name="Google Shape;183;p21"/>
          <p:cNvSpPr txBox="1"/>
          <p:nvPr/>
        </p:nvSpPr>
        <p:spPr>
          <a:xfrm>
            <a:off x="2998600" y="3372275"/>
            <a:ext cx="2194200" cy="1660500"/>
          </a:xfrm>
          <a:prstGeom prst="rect">
            <a:avLst/>
          </a:prstGeom>
          <a:noFill/>
          <a:ln>
            <a:noFill/>
          </a:ln>
        </p:spPr>
        <p:txBody>
          <a:bodyPr anchorCtr="0" anchor="t" bIns="91425" lIns="91425" spcFirstLastPara="1" rIns="91425" wrap="square" tIns="91425">
            <a:noAutofit/>
          </a:bodyPr>
          <a:lstStyle/>
          <a:p>
            <a:pPr indent="-304800" lvl="0" marL="457200" rtl="0" algn="just">
              <a:spcBef>
                <a:spcPts val="0"/>
              </a:spcBef>
              <a:spcAft>
                <a:spcPts val="0"/>
              </a:spcAft>
              <a:buClr>
                <a:schemeClr val="dk2"/>
              </a:buClr>
              <a:buSzPts val="1200"/>
              <a:buChar char="-"/>
            </a:pPr>
            <a:r>
              <a:rPr lang="fr" sz="1200">
                <a:solidFill>
                  <a:schemeClr val="dk2"/>
                </a:solidFill>
              </a:rPr>
              <a:t>Un athlète hors norme</a:t>
            </a:r>
            <a:endParaRPr sz="1200">
              <a:solidFill>
                <a:schemeClr val="dk2"/>
              </a:solidFill>
            </a:endParaRPr>
          </a:p>
          <a:p>
            <a:pPr indent="0" lvl="0" marL="457200" rtl="0" algn="just">
              <a:spcBef>
                <a:spcPts val="0"/>
              </a:spcBef>
              <a:spcAft>
                <a:spcPts val="0"/>
              </a:spcAft>
              <a:buNone/>
            </a:pPr>
            <a:r>
              <a:t/>
            </a:r>
            <a:endParaRPr sz="1200">
              <a:solidFill>
                <a:schemeClr val="dk2"/>
              </a:solidFill>
            </a:endParaRPr>
          </a:p>
          <a:p>
            <a:pPr indent="-304800" lvl="0" marL="457200" rtl="0" algn="just">
              <a:spcBef>
                <a:spcPts val="0"/>
              </a:spcBef>
              <a:spcAft>
                <a:spcPts val="0"/>
              </a:spcAft>
              <a:buClr>
                <a:schemeClr val="dk2"/>
              </a:buClr>
              <a:buSzPts val="1200"/>
              <a:buChar char="-"/>
            </a:pPr>
            <a:r>
              <a:rPr lang="fr" sz="1200">
                <a:solidFill>
                  <a:schemeClr val="dk2"/>
                </a:solidFill>
              </a:rPr>
              <a:t>Le continent Africain dépourvu d’organisation.</a:t>
            </a:r>
            <a:endParaRPr sz="1200">
              <a:solidFill>
                <a:schemeClr val="dk2"/>
              </a:solidFill>
            </a:endParaRPr>
          </a:p>
          <a:p>
            <a:pPr indent="0" lvl="0" marL="914400" rtl="0" algn="just">
              <a:spcBef>
                <a:spcPts val="0"/>
              </a:spcBef>
              <a:spcAft>
                <a:spcPts val="0"/>
              </a:spcAft>
              <a:buNone/>
            </a:pPr>
            <a:r>
              <a:t/>
            </a:r>
            <a:endParaRPr sz="1200">
              <a:solidFill>
                <a:schemeClr val="dk2"/>
              </a:solidFill>
            </a:endParaRPr>
          </a:p>
          <a:p>
            <a:pPr indent="-304800" lvl="0" marL="457200" rtl="0" algn="just">
              <a:spcBef>
                <a:spcPts val="0"/>
              </a:spcBef>
              <a:spcAft>
                <a:spcPts val="0"/>
              </a:spcAft>
              <a:buClr>
                <a:schemeClr val="dk2"/>
              </a:buClr>
              <a:buSzPts val="1200"/>
              <a:buChar char="-"/>
            </a:pPr>
            <a:r>
              <a:rPr lang="fr" sz="1200">
                <a:solidFill>
                  <a:schemeClr val="dk2"/>
                </a:solidFill>
              </a:rPr>
              <a:t>Des JO d’été plus conséquents</a:t>
            </a:r>
            <a:endParaRPr sz="1200">
              <a:solidFill>
                <a:schemeClr val="dk2"/>
              </a:solidFill>
            </a:endParaRPr>
          </a:p>
        </p:txBody>
      </p:sp>
      <p:pic>
        <p:nvPicPr>
          <p:cNvPr id="184" name="Google Shape;184;p21" title="2021_anneaux_olympiques_png_transparent_20210724_1834024954.png"/>
          <p:cNvPicPr preferRelativeResize="0"/>
          <p:nvPr/>
        </p:nvPicPr>
        <p:blipFill>
          <a:blip r:embed="rId9">
            <a:alphaModFix/>
          </a:blip>
          <a:stretch>
            <a:fillRect/>
          </a:stretch>
        </p:blipFill>
        <p:spPr>
          <a:xfrm>
            <a:off x="8299712" y="27926"/>
            <a:ext cx="894174" cy="63319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2"/>
          <p:cNvPicPr preferRelativeResize="0"/>
          <p:nvPr/>
        </p:nvPicPr>
        <p:blipFill rotWithShape="1">
          <a:blip r:embed="rId3">
            <a:alphaModFix/>
          </a:blip>
          <a:srcRect b="0" l="0" r="0" t="0"/>
          <a:stretch/>
        </p:blipFill>
        <p:spPr>
          <a:xfrm>
            <a:off x="268425" y="135777"/>
            <a:ext cx="576900" cy="385904"/>
          </a:xfrm>
          <a:prstGeom prst="rect">
            <a:avLst/>
          </a:prstGeom>
          <a:noFill/>
          <a:ln>
            <a:noFill/>
          </a:ln>
        </p:spPr>
      </p:pic>
      <p:sp>
        <p:nvSpPr>
          <p:cNvPr id="190" name="Google Shape;190;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pic>
        <p:nvPicPr>
          <p:cNvPr id="191" name="Google Shape;191;p22" title="Capture d'écran 2025-12-17 160938.png"/>
          <p:cNvPicPr preferRelativeResize="0"/>
          <p:nvPr/>
        </p:nvPicPr>
        <p:blipFill>
          <a:blip r:embed="rId4">
            <a:alphaModFix/>
          </a:blip>
          <a:stretch>
            <a:fillRect/>
          </a:stretch>
        </p:blipFill>
        <p:spPr>
          <a:xfrm>
            <a:off x="5521625" y="3334475"/>
            <a:ext cx="2778200" cy="1679100"/>
          </a:xfrm>
          <a:prstGeom prst="rect">
            <a:avLst/>
          </a:prstGeom>
          <a:noFill/>
          <a:ln>
            <a:noFill/>
          </a:ln>
        </p:spPr>
      </p:pic>
      <p:pic>
        <p:nvPicPr>
          <p:cNvPr id="192" name="Google Shape;192;p22" title="Capture d'écran 2025-12-17 160947.png"/>
          <p:cNvPicPr preferRelativeResize="0"/>
          <p:nvPr/>
        </p:nvPicPr>
        <p:blipFill>
          <a:blip r:embed="rId5">
            <a:alphaModFix/>
          </a:blip>
          <a:stretch>
            <a:fillRect/>
          </a:stretch>
        </p:blipFill>
        <p:spPr>
          <a:xfrm>
            <a:off x="1082713" y="1088324"/>
            <a:ext cx="2864100" cy="1617475"/>
          </a:xfrm>
          <a:prstGeom prst="rect">
            <a:avLst/>
          </a:prstGeom>
          <a:noFill/>
          <a:ln>
            <a:noFill/>
          </a:ln>
        </p:spPr>
      </p:pic>
      <p:pic>
        <p:nvPicPr>
          <p:cNvPr id="193" name="Google Shape;193;p22" title="Capture d'écran 2025-12-17 161253.png"/>
          <p:cNvPicPr preferRelativeResize="0"/>
          <p:nvPr/>
        </p:nvPicPr>
        <p:blipFill>
          <a:blip r:embed="rId6">
            <a:alphaModFix/>
          </a:blip>
          <a:stretch>
            <a:fillRect/>
          </a:stretch>
        </p:blipFill>
        <p:spPr>
          <a:xfrm>
            <a:off x="2502050" y="2774437"/>
            <a:ext cx="2969651" cy="2305650"/>
          </a:xfrm>
          <a:prstGeom prst="rect">
            <a:avLst/>
          </a:prstGeom>
          <a:noFill/>
          <a:ln>
            <a:noFill/>
          </a:ln>
        </p:spPr>
      </p:pic>
      <p:pic>
        <p:nvPicPr>
          <p:cNvPr id="194" name="Google Shape;194;p22" title="Capture d'écran 2025-12-17 161351.png"/>
          <p:cNvPicPr preferRelativeResize="0"/>
          <p:nvPr/>
        </p:nvPicPr>
        <p:blipFill>
          <a:blip r:embed="rId7">
            <a:alphaModFix/>
          </a:blip>
          <a:stretch>
            <a:fillRect/>
          </a:stretch>
        </p:blipFill>
        <p:spPr>
          <a:xfrm>
            <a:off x="6895075" y="2640187"/>
            <a:ext cx="1404625" cy="628037"/>
          </a:xfrm>
          <a:prstGeom prst="rect">
            <a:avLst/>
          </a:prstGeom>
          <a:noFill/>
          <a:ln>
            <a:noFill/>
          </a:ln>
        </p:spPr>
      </p:pic>
      <p:pic>
        <p:nvPicPr>
          <p:cNvPr id="195" name="Google Shape;195;p22" title="Capture d'écran 2025-12-17 161412.png"/>
          <p:cNvPicPr preferRelativeResize="0"/>
          <p:nvPr/>
        </p:nvPicPr>
        <p:blipFill>
          <a:blip r:embed="rId8">
            <a:alphaModFix/>
          </a:blip>
          <a:stretch>
            <a:fillRect/>
          </a:stretch>
        </p:blipFill>
        <p:spPr>
          <a:xfrm>
            <a:off x="1082725" y="2801150"/>
            <a:ext cx="1425275" cy="687050"/>
          </a:xfrm>
          <a:prstGeom prst="rect">
            <a:avLst/>
          </a:prstGeom>
          <a:noFill/>
          <a:ln>
            <a:noFill/>
          </a:ln>
        </p:spPr>
      </p:pic>
      <p:pic>
        <p:nvPicPr>
          <p:cNvPr id="196" name="Google Shape;196;p22" title="Capture d'écran 2025-12-17 161405.png"/>
          <p:cNvPicPr preferRelativeResize="0"/>
          <p:nvPr/>
        </p:nvPicPr>
        <p:blipFill>
          <a:blip r:embed="rId9">
            <a:alphaModFix/>
          </a:blip>
          <a:stretch>
            <a:fillRect/>
          </a:stretch>
        </p:blipFill>
        <p:spPr>
          <a:xfrm>
            <a:off x="1093050" y="3488212"/>
            <a:ext cx="1404622" cy="687050"/>
          </a:xfrm>
          <a:prstGeom prst="rect">
            <a:avLst/>
          </a:prstGeom>
          <a:noFill/>
          <a:ln>
            <a:noFill/>
          </a:ln>
        </p:spPr>
      </p:pic>
      <p:pic>
        <p:nvPicPr>
          <p:cNvPr id="197" name="Google Shape;197;p22" title="Capture d'écran 2025-12-17 161358.png"/>
          <p:cNvPicPr preferRelativeResize="0"/>
          <p:nvPr/>
        </p:nvPicPr>
        <p:blipFill>
          <a:blip r:embed="rId10">
            <a:alphaModFix/>
          </a:blip>
          <a:stretch>
            <a:fillRect/>
          </a:stretch>
        </p:blipFill>
        <p:spPr>
          <a:xfrm>
            <a:off x="1082725" y="4326520"/>
            <a:ext cx="1425275" cy="687056"/>
          </a:xfrm>
          <a:prstGeom prst="rect">
            <a:avLst/>
          </a:prstGeom>
          <a:noFill/>
          <a:ln>
            <a:noFill/>
          </a:ln>
        </p:spPr>
      </p:pic>
      <p:sp>
        <p:nvSpPr>
          <p:cNvPr id="198" name="Google Shape;198;p22"/>
          <p:cNvSpPr/>
          <p:nvPr/>
        </p:nvSpPr>
        <p:spPr>
          <a:xfrm>
            <a:off x="1082725" y="62175"/>
            <a:ext cx="7217100" cy="53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800">
                <a:solidFill>
                  <a:srgbClr val="0E3449"/>
                </a:solidFill>
              </a:rPr>
              <a:t>Evolution des athlètes à travers les différentes éditions</a:t>
            </a:r>
            <a:endParaRPr b="1" sz="800"/>
          </a:p>
        </p:txBody>
      </p:sp>
      <p:sp>
        <p:nvSpPr>
          <p:cNvPr id="199" name="Google Shape;199;p22"/>
          <p:cNvSpPr txBox="1"/>
          <p:nvPr/>
        </p:nvSpPr>
        <p:spPr>
          <a:xfrm>
            <a:off x="4030250" y="1088325"/>
            <a:ext cx="4269600" cy="14856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2"/>
              </a:buClr>
              <a:buSzPts val="1200"/>
              <a:buChar char="-"/>
            </a:pPr>
            <a:r>
              <a:rPr lang="fr" sz="1200">
                <a:solidFill>
                  <a:schemeClr val="dk2"/>
                </a:solidFill>
              </a:rPr>
              <a:t>L’équitation et le tir : des sports favorisant la longévité.</a:t>
            </a:r>
            <a:endParaRPr sz="1200">
              <a:solidFill>
                <a:schemeClr val="dk2"/>
              </a:solidFill>
            </a:endParaRPr>
          </a:p>
          <a:p>
            <a:pPr indent="0" lvl="0" marL="457200" rtl="0" algn="l">
              <a:spcBef>
                <a:spcPts val="0"/>
              </a:spcBef>
              <a:spcAft>
                <a:spcPts val="0"/>
              </a:spcAft>
              <a:buNone/>
            </a:pPr>
            <a:r>
              <a:t/>
            </a:r>
            <a:endParaRPr sz="1200">
              <a:solidFill>
                <a:schemeClr val="dk2"/>
              </a:solidFill>
            </a:endParaRPr>
          </a:p>
          <a:p>
            <a:pPr indent="-304800" lvl="0" marL="457200" rtl="0" algn="l">
              <a:spcBef>
                <a:spcPts val="0"/>
              </a:spcBef>
              <a:spcAft>
                <a:spcPts val="0"/>
              </a:spcAft>
              <a:buClr>
                <a:schemeClr val="dk2"/>
              </a:buClr>
              <a:buSzPts val="1200"/>
              <a:buChar char="-"/>
            </a:pPr>
            <a:r>
              <a:rPr lang="fr" sz="1200">
                <a:solidFill>
                  <a:schemeClr val="dk2"/>
                </a:solidFill>
              </a:rPr>
              <a:t>Les profils des athlètes olympiques : des contrastes importants.</a:t>
            </a:r>
            <a:endParaRPr sz="1200">
              <a:solidFill>
                <a:schemeClr val="dk2"/>
              </a:solidFill>
            </a:endParaRPr>
          </a:p>
          <a:p>
            <a:pPr indent="0" lvl="0" marL="457200" rtl="0" algn="l">
              <a:spcBef>
                <a:spcPts val="0"/>
              </a:spcBef>
              <a:spcAft>
                <a:spcPts val="0"/>
              </a:spcAft>
              <a:buNone/>
            </a:pPr>
            <a:r>
              <a:t/>
            </a:r>
            <a:endParaRPr sz="1200">
              <a:solidFill>
                <a:schemeClr val="dk2"/>
              </a:solidFill>
            </a:endParaRPr>
          </a:p>
          <a:p>
            <a:pPr indent="-304800" lvl="0" marL="457200" rtl="0" algn="l">
              <a:spcBef>
                <a:spcPts val="0"/>
              </a:spcBef>
              <a:spcAft>
                <a:spcPts val="0"/>
              </a:spcAft>
              <a:buClr>
                <a:schemeClr val="dk2"/>
              </a:buClr>
              <a:buSzPts val="1200"/>
              <a:buChar char="-"/>
            </a:pPr>
            <a:r>
              <a:rPr lang="fr" sz="1200">
                <a:solidFill>
                  <a:schemeClr val="dk2"/>
                </a:solidFill>
              </a:rPr>
              <a:t>Paris 2024: Premiers JO paritaires.</a:t>
            </a:r>
            <a:endParaRPr sz="1200">
              <a:solidFill>
                <a:schemeClr val="dk2"/>
              </a:solidFill>
            </a:endParaRPr>
          </a:p>
          <a:p>
            <a:pPr indent="0" lvl="0" marL="0" rtl="0" algn="l">
              <a:spcBef>
                <a:spcPts val="0"/>
              </a:spcBef>
              <a:spcAft>
                <a:spcPts val="0"/>
              </a:spcAft>
              <a:buNone/>
            </a:pPr>
            <a:r>
              <a:t/>
            </a:r>
            <a:endParaRPr sz="1200">
              <a:solidFill>
                <a:schemeClr val="dk2"/>
              </a:solidFill>
            </a:endParaRPr>
          </a:p>
        </p:txBody>
      </p:sp>
      <p:pic>
        <p:nvPicPr>
          <p:cNvPr id="200" name="Google Shape;200;p22" title="2021_anneaux_olympiques_png_transparent_20210724_1834024954.png"/>
          <p:cNvPicPr preferRelativeResize="0"/>
          <p:nvPr/>
        </p:nvPicPr>
        <p:blipFill>
          <a:blip r:embed="rId11">
            <a:alphaModFix/>
          </a:blip>
          <a:stretch>
            <a:fillRect/>
          </a:stretch>
        </p:blipFill>
        <p:spPr>
          <a:xfrm>
            <a:off x="8299712" y="27926"/>
            <a:ext cx="894174" cy="63319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23"/>
          <p:cNvPicPr preferRelativeResize="0"/>
          <p:nvPr/>
        </p:nvPicPr>
        <p:blipFill rotWithShape="1">
          <a:blip r:embed="rId3">
            <a:alphaModFix/>
          </a:blip>
          <a:srcRect b="0" l="0" r="0" t="0"/>
          <a:stretch/>
        </p:blipFill>
        <p:spPr>
          <a:xfrm>
            <a:off x="249850" y="80627"/>
            <a:ext cx="576900" cy="385904"/>
          </a:xfrm>
          <a:prstGeom prst="rect">
            <a:avLst/>
          </a:prstGeom>
          <a:noFill/>
          <a:ln>
            <a:noFill/>
          </a:ln>
        </p:spPr>
      </p:pic>
      <p:sp>
        <p:nvSpPr>
          <p:cNvPr id="206" name="Google Shape;20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pic>
        <p:nvPicPr>
          <p:cNvPr id="207" name="Google Shape;207;p23" title="olympic-games-logo-clipart-md.png"/>
          <p:cNvPicPr preferRelativeResize="0"/>
          <p:nvPr/>
        </p:nvPicPr>
        <p:blipFill>
          <a:blip r:embed="rId4">
            <a:alphaModFix/>
          </a:blip>
          <a:stretch>
            <a:fillRect/>
          </a:stretch>
        </p:blipFill>
        <p:spPr>
          <a:xfrm>
            <a:off x="7482768" y="0"/>
            <a:ext cx="1661244" cy="906500"/>
          </a:xfrm>
          <a:prstGeom prst="rect">
            <a:avLst/>
          </a:prstGeom>
          <a:noFill/>
          <a:ln>
            <a:noFill/>
          </a:ln>
        </p:spPr>
      </p:pic>
      <p:pic>
        <p:nvPicPr>
          <p:cNvPr id="208" name="Google Shape;208;p23" title="Capture d'écran 2025-12-17 162028.png"/>
          <p:cNvPicPr preferRelativeResize="0"/>
          <p:nvPr/>
        </p:nvPicPr>
        <p:blipFill>
          <a:blip r:embed="rId5">
            <a:alphaModFix/>
          </a:blip>
          <a:stretch>
            <a:fillRect/>
          </a:stretch>
        </p:blipFill>
        <p:spPr>
          <a:xfrm>
            <a:off x="66810" y="1446900"/>
            <a:ext cx="1176240" cy="664825"/>
          </a:xfrm>
          <a:prstGeom prst="rect">
            <a:avLst/>
          </a:prstGeom>
          <a:noFill/>
          <a:ln>
            <a:noFill/>
          </a:ln>
        </p:spPr>
      </p:pic>
      <p:pic>
        <p:nvPicPr>
          <p:cNvPr id="209" name="Google Shape;209;p23" title="Capture d'écran 2025-12-17 162019.png"/>
          <p:cNvPicPr preferRelativeResize="0"/>
          <p:nvPr/>
        </p:nvPicPr>
        <p:blipFill>
          <a:blip r:embed="rId6">
            <a:alphaModFix/>
          </a:blip>
          <a:stretch>
            <a:fillRect/>
          </a:stretch>
        </p:blipFill>
        <p:spPr>
          <a:xfrm>
            <a:off x="2744901" y="3699675"/>
            <a:ext cx="3780851" cy="1304700"/>
          </a:xfrm>
          <a:prstGeom prst="rect">
            <a:avLst/>
          </a:prstGeom>
          <a:noFill/>
          <a:ln>
            <a:noFill/>
          </a:ln>
        </p:spPr>
      </p:pic>
      <p:pic>
        <p:nvPicPr>
          <p:cNvPr id="210" name="Google Shape;210;p23" title="Capture d'écran 2025-12-17 162011.png"/>
          <p:cNvPicPr preferRelativeResize="0"/>
          <p:nvPr/>
        </p:nvPicPr>
        <p:blipFill>
          <a:blip r:embed="rId7">
            <a:alphaModFix/>
          </a:blip>
          <a:stretch>
            <a:fillRect/>
          </a:stretch>
        </p:blipFill>
        <p:spPr>
          <a:xfrm>
            <a:off x="2744901" y="2200050"/>
            <a:ext cx="3780850" cy="1433125"/>
          </a:xfrm>
          <a:prstGeom prst="rect">
            <a:avLst/>
          </a:prstGeom>
          <a:noFill/>
          <a:ln>
            <a:noFill/>
          </a:ln>
        </p:spPr>
      </p:pic>
      <p:pic>
        <p:nvPicPr>
          <p:cNvPr id="211" name="Google Shape;211;p23" title="Capture d'écran 2025-12-17 162211.png"/>
          <p:cNvPicPr preferRelativeResize="0"/>
          <p:nvPr/>
        </p:nvPicPr>
        <p:blipFill>
          <a:blip r:embed="rId8">
            <a:alphaModFix/>
          </a:blip>
          <a:stretch>
            <a:fillRect/>
          </a:stretch>
        </p:blipFill>
        <p:spPr>
          <a:xfrm>
            <a:off x="1362649" y="1446900"/>
            <a:ext cx="1290925" cy="664825"/>
          </a:xfrm>
          <a:prstGeom prst="rect">
            <a:avLst/>
          </a:prstGeom>
          <a:noFill/>
          <a:ln>
            <a:noFill/>
          </a:ln>
        </p:spPr>
      </p:pic>
      <p:pic>
        <p:nvPicPr>
          <p:cNvPr id="212" name="Google Shape;212;p23" title="Capture d'écran 2025-12-17 162143.png"/>
          <p:cNvPicPr preferRelativeResize="0"/>
          <p:nvPr/>
        </p:nvPicPr>
        <p:blipFill>
          <a:blip r:embed="rId9">
            <a:alphaModFix/>
          </a:blip>
          <a:stretch>
            <a:fillRect/>
          </a:stretch>
        </p:blipFill>
        <p:spPr>
          <a:xfrm>
            <a:off x="6620700" y="3255902"/>
            <a:ext cx="2148550" cy="1748473"/>
          </a:xfrm>
          <a:prstGeom prst="rect">
            <a:avLst/>
          </a:prstGeom>
          <a:noFill/>
          <a:ln>
            <a:noFill/>
          </a:ln>
        </p:spPr>
      </p:pic>
      <p:pic>
        <p:nvPicPr>
          <p:cNvPr id="213" name="Google Shape;213;p23" title="Capture d'écran 2025-12-17 162157.png"/>
          <p:cNvPicPr preferRelativeResize="0"/>
          <p:nvPr/>
        </p:nvPicPr>
        <p:blipFill>
          <a:blip r:embed="rId10">
            <a:alphaModFix/>
          </a:blip>
          <a:stretch>
            <a:fillRect/>
          </a:stretch>
        </p:blipFill>
        <p:spPr>
          <a:xfrm>
            <a:off x="66800" y="2200050"/>
            <a:ext cx="2623350" cy="1433125"/>
          </a:xfrm>
          <a:prstGeom prst="rect">
            <a:avLst/>
          </a:prstGeom>
          <a:noFill/>
          <a:ln>
            <a:noFill/>
          </a:ln>
        </p:spPr>
      </p:pic>
      <p:sp>
        <p:nvSpPr>
          <p:cNvPr id="214" name="Google Shape;214;p23"/>
          <p:cNvSpPr/>
          <p:nvPr/>
        </p:nvSpPr>
        <p:spPr>
          <a:xfrm>
            <a:off x="1084263" y="7025"/>
            <a:ext cx="6186300" cy="53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800">
                <a:solidFill>
                  <a:srgbClr val="0E3449"/>
                </a:solidFill>
              </a:rPr>
              <a:t>Analyse sur les différentes disciplines</a:t>
            </a:r>
            <a:endParaRPr b="1" sz="800"/>
          </a:p>
        </p:txBody>
      </p:sp>
      <p:sp>
        <p:nvSpPr>
          <p:cNvPr id="215" name="Google Shape;215;p23"/>
          <p:cNvSpPr txBox="1"/>
          <p:nvPr/>
        </p:nvSpPr>
        <p:spPr>
          <a:xfrm>
            <a:off x="6620725" y="1023325"/>
            <a:ext cx="2400300" cy="2023500"/>
          </a:xfrm>
          <a:prstGeom prst="rect">
            <a:avLst/>
          </a:prstGeom>
          <a:noFill/>
          <a:ln>
            <a:noFill/>
          </a:ln>
        </p:spPr>
        <p:txBody>
          <a:bodyPr anchorCtr="0" anchor="t" bIns="91425" lIns="91425" spcFirstLastPara="1" rIns="91425" wrap="square" tIns="91425">
            <a:noAutofit/>
          </a:bodyPr>
          <a:lstStyle/>
          <a:p>
            <a:pPr indent="-323850" lvl="0" marL="457200" rtl="0" algn="just">
              <a:spcBef>
                <a:spcPts val="0"/>
              </a:spcBef>
              <a:spcAft>
                <a:spcPts val="0"/>
              </a:spcAft>
              <a:buClr>
                <a:schemeClr val="dk2"/>
              </a:buClr>
              <a:buSzPts val="1500"/>
              <a:buChar char="-"/>
            </a:pPr>
            <a:r>
              <a:rPr lang="fr" sz="1500">
                <a:solidFill>
                  <a:schemeClr val="dk2"/>
                </a:solidFill>
              </a:rPr>
              <a:t>L’athlétisme : la discipline reine des JO.</a:t>
            </a:r>
            <a:endParaRPr sz="1500">
              <a:solidFill>
                <a:schemeClr val="dk2"/>
              </a:solidFill>
            </a:endParaRPr>
          </a:p>
          <a:p>
            <a:pPr indent="0" lvl="0" marL="457200" rtl="0" algn="just">
              <a:spcBef>
                <a:spcPts val="0"/>
              </a:spcBef>
              <a:spcAft>
                <a:spcPts val="0"/>
              </a:spcAft>
              <a:buNone/>
            </a:pPr>
            <a:r>
              <a:t/>
            </a:r>
            <a:endParaRPr sz="1500">
              <a:solidFill>
                <a:schemeClr val="dk2"/>
              </a:solidFill>
            </a:endParaRPr>
          </a:p>
          <a:p>
            <a:pPr indent="-323850" lvl="0" marL="457200" rtl="0" algn="just">
              <a:spcBef>
                <a:spcPts val="0"/>
              </a:spcBef>
              <a:spcAft>
                <a:spcPts val="0"/>
              </a:spcAft>
              <a:buClr>
                <a:schemeClr val="dk2"/>
              </a:buClr>
              <a:buSzPts val="1500"/>
              <a:buChar char="-"/>
            </a:pPr>
            <a:r>
              <a:rPr lang="fr" sz="1500">
                <a:solidFill>
                  <a:schemeClr val="dk2"/>
                </a:solidFill>
              </a:rPr>
              <a:t>Une diversité d’épreuves pour les JO d’hiver qui </a:t>
            </a:r>
            <a:r>
              <a:rPr lang="fr" sz="1500">
                <a:solidFill>
                  <a:schemeClr val="dk2"/>
                </a:solidFill>
              </a:rPr>
              <a:t>s'accroît</a:t>
            </a:r>
            <a:r>
              <a:rPr lang="fr" sz="1500">
                <a:solidFill>
                  <a:schemeClr val="dk2"/>
                </a:solidFill>
              </a:rPr>
              <a:t> avec le temps</a:t>
            </a:r>
            <a:endParaRPr sz="15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24"/>
          <p:cNvPicPr preferRelativeResize="0"/>
          <p:nvPr/>
        </p:nvPicPr>
        <p:blipFill rotWithShape="1">
          <a:blip r:embed="rId3">
            <a:alphaModFix/>
          </a:blip>
          <a:srcRect b="0" l="0" r="0" t="0"/>
          <a:stretch/>
        </p:blipFill>
        <p:spPr>
          <a:xfrm>
            <a:off x="361250" y="116677"/>
            <a:ext cx="576900" cy="385904"/>
          </a:xfrm>
          <a:prstGeom prst="rect">
            <a:avLst/>
          </a:prstGeom>
          <a:noFill/>
          <a:ln>
            <a:noFill/>
          </a:ln>
        </p:spPr>
      </p:pic>
      <p:sp>
        <p:nvSpPr>
          <p:cNvPr id="221" name="Google Shape;221;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pic>
        <p:nvPicPr>
          <p:cNvPr id="222" name="Google Shape;222;p24" title="desktop-wallpaper-olympics-games-3d.jpg"/>
          <p:cNvPicPr preferRelativeResize="0"/>
          <p:nvPr/>
        </p:nvPicPr>
        <p:blipFill>
          <a:blip r:embed="rId4">
            <a:alphaModFix/>
          </a:blip>
          <a:stretch>
            <a:fillRect/>
          </a:stretch>
        </p:blipFill>
        <p:spPr>
          <a:xfrm>
            <a:off x="7781075" y="1"/>
            <a:ext cx="1362924" cy="766450"/>
          </a:xfrm>
          <a:prstGeom prst="rect">
            <a:avLst/>
          </a:prstGeom>
          <a:noFill/>
          <a:ln>
            <a:noFill/>
          </a:ln>
        </p:spPr>
      </p:pic>
      <p:pic>
        <p:nvPicPr>
          <p:cNvPr id="223" name="Google Shape;223;p24" title="3D Map.mp4">
            <a:hlinkClick r:id="rId5"/>
          </p:cNvPr>
          <p:cNvPicPr preferRelativeResize="0"/>
          <p:nvPr/>
        </p:nvPicPr>
        <p:blipFill>
          <a:blip r:embed="rId6">
            <a:alphaModFix/>
          </a:blip>
          <a:stretch>
            <a:fillRect/>
          </a:stretch>
        </p:blipFill>
        <p:spPr>
          <a:xfrm>
            <a:off x="4417775" y="3245800"/>
            <a:ext cx="3510100" cy="1417425"/>
          </a:xfrm>
          <a:prstGeom prst="rect">
            <a:avLst/>
          </a:prstGeom>
          <a:noFill/>
          <a:ln>
            <a:noFill/>
          </a:ln>
        </p:spPr>
      </p:pic>
      <p:pic>
        <p:nvPicPr>
          <p:cNvPr id="224" name="Google Shape;224;p24" title="Capture d'écran 2025-12-17 162653.png"/>
          <p:cNvPicPr preferRelativeResize="0"/>
          <p:nvPr/>
        </p:nvPicPr>
        <p:blipFill>
          <a:blip r:embed="rId7">
            <a:alphaModFix/>
          </a:blip>
          <a:stretch>
            <a:fillRect/>
          </a:stretch>
        </p:blipFill>
        <p:spPr>
          <a:xfrm>
            <a:off x="4988700" y="1093025"/>
            <a:ext cx="2685850" cy="1519225"/>
          </a:xfrm>
          <a:prstGeom prst="rect">
            <a:avLst/>
          </a:prstGeom>
          <a:noFill/>
          <a:ln>
            <a:noFill/>
          </a:ln>
        </p:spPr>
      </p:pic>
      <p:sp>
        <p:nvSpPr>
          <p:cNvPr id="225" name="Google Shape;225;p24"/>
          <p:cNvSpPr/>
          <p:nvPr/>
        </p:nvSpPr>
        <p:spPr>
          <a:xfrm>
            <a:off x="1430800" y="43075"/>
            <a:ext cx="6205200" cy="53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800">
                <a:solidFill>
                  <a:srgbClr val="0E3449"/>
                </a:solidFill>
              </a:rPr>
              <a:t>La domination incontestable de l’hémisphère nord : </a:t>
            </a:r>
            <a:endParaRPr b="1" sz="800"/>
          </a:p>
        </p:txBody>
      </p:sp>
      <p:sp>
        <p:nvSpPr>
          <p:cNvPr id="226" name="Google Shape;226;p24"/>
          <p:cNvSpPr txBox="1"/>
          <p:nvPr/>
        </p:nvSpPr>
        <p:spPr>
          <a:xfrm>
            <a:off x="307675" y="838450"/>
            <a:ext cx="3981000" cy="42183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200">
              <a:solidFill>
                <a:schemeClr val="dk2"/>
              </a:solidFill>
            </a:endParaRPr>
          </a:p>
          <a:p>
            <a:pPr indent="-304800" lvl="0" marL="457200" rtl="0" algn="l">
              <a:spcBef>
                <a:spcPts val="0"/>
              </a:spcBef>
              <a:spcAft>
                <a:spcPts val="0"/>
              </a:spcAft>
              <a:buClr>
                <a:schemeClr val="dk2"/>
              </a:buClr>
              <a:buSzPts val="1200"/>
              <a:buChar char="●"/>
            </a:pPr>
            <a:r>
              <a:rPr lang="fr" sz="1200">
                <a:solidFill>
                  <a:schemeClr val="dk2"/>
                </a:solidFill>
              </a:rPr>
              <a:t>Le sport de haut niveau </a:t>
            </a:r>
            <a:r>
              <a:rPr lang="fr" sz="1200">
                <a:solidFill>
                  <a:schemeClr val="dk2"/>
                </a:solidFill>
              </a:rPr>
              <a:t>apparaît</a:t>
            </a:r>
            <a:r>
              <a:rPr lang="fr" sz="1200">
                <a:solidFill>
                  <a:schemeClr val="dk2"/>
                </a:solidFill>
              </a:rPr>
              <a:t> comme profondément inégalitaire. Malgré la multiplication des épreuves et l’émergence de nouvelles nations participantes comme la Chine, c’est bien l’hémisphère nord (continents et pays) qui remportent le plus de médailles</a:t>
            </a:r>
            <a:endParaRPr sz="1200">
              <a:solidFill>
                <a:schemeClr val="dk2"/>
              </a:solidFill>
            </a:endParaRPr>
          </a:p>
          <a:p>
            <a:pPr indent="0" lvl="0" marL="457200" rtl="0" algn="l">
              <a:spcBef>
                <a:spcPts val="0"/>
              </a:spcBef>
              <a:spcAft>
                <a:spcPts val="0"/>
              </a:spcAft>
              <a:buNone/>
            </a:pPr>
            <a:r>
              <a:t/>
            </a:r>
            <a:endParaRPr sz="1200">
              <a:solidFill>
                <a:schemeClr val="dk2"/>
              </a:solidFill>
            </a:endParaRPr>
          </a:p>
          <a:p>
            <a:pPr indent="-304800" lvl="0" marL="457200" rtl="0" algn="l">
              <a:spcBef>
                <a:spcPts val="0"/>
              </a:spcBef>
              <a:spcAft>
                <a:spcPts val="0"/>
              </a:spcAft>
              <a:buClr>
                <a:schemeClr val="dk2"/>
              </a:buClr>
              <a:buSzPts val="1200"/>
              <a:buChar char="●"/>
            </a:pPr>
            <a:r>
              <a:rPr lang="fr" sz="1200">
                <a:solidFill>
                  <a:schemeClr val="dk2"/>
                </a:solidFill>
              </a:rPr>
              <a:t>Certaines nations, au palmarès “vide” appartiennent dans leur très grande majorité à des pays souvent peu peuplés, pauvres et/ou en voie de développement. </a:t>
            </a:r>
            <a:endParaRPr sz="1200">
              <a:solidFill>
                <a:schemeClr val="dk2"/>
              </a:solidFill>
            </a:endParaRPr>
          </a:p>
          <a:p>
            <a:pPr indent="0" lvl="0" marL="457200" rtl="0" algn="l">
              <a:spcBef>
                <a:spcPts val="0"/>
              </a:spcBef>
              <a:spcAft>
                <a:spcPts val="0"/>
              </a:spcAft>
              <a:buNone/>
            </a:pPr>
            <a:r>
              <a:t/>
            </a:r>
            <a:endParaRPr sz="1200">
              <a:solidFill>
                <a:schemeClr val="dk2"/>
              </a:solidFill>
            </a:endParaRPr>
          </a:p>
          <a:p>
            <a:pPr indent="-304800" lvl="0" marL="457200" rtl="0" algn="l">
              <a:spcBef>
                <a:spcPts val="0"/>
              </a:spcBef>
              <a:spcAft>
                <a:spcPts val="0"/>
              </a:spcAft>
              <a:buClr>
                <a:schemeClr val="dk2"/>
              </a:buClr>
              <a:buSzPts val="1200"/>
              <a:buChar char="●"/>
            </a:pPr>
            <a:r>
              <a:rPr lang="fr" sz="1200">
                <a:solidFill>
                  <a:schemeClr val="dk2"/>
                </a:solidFill>
              </a:rPr>
              <a:t>Les pays remportant le plus de médailles combinent souvent richesse et population importante et si les Etats-Unis devancent largement tous les autres pays, c’est bien l’Europe, avec des nations plus homogènes en terme de richesse et de population, qui reste le leader incontestable en terme de médailles obtenues. </a:t>
            </a:r>
            <a:endParaRPr sz="12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25"/>
          <p:cNvPicPr preferRelativeResize="0"/>
          <p:nvPr/>
        </p:nvPicPr>
        <p:blipFill rotWithShape="1">
          <a:blip r:embed="rId3">
            <a:alphaModFix/>
          </a:blip>
          <a:srcRect b="0" l="0" r="0" t="0"/>
          <a:stretch/>
        </p:blipFill>
        <p:spPr>
          <a:xfrm>
            <a:off x="305225" y="278577"/>
            <a:ext cx="576900" cy="385904"/>
          </a:xfrm>
          <a:prstGeom prst="rect">
            <a:avLst/>
          </a:prstGeom>
          <a:noFill/>
          <a:ln>
            <a:noFill/>
          </a:ln>
        </p:spPr>
      </p:pic>
      <p:sp>
        <p:nvSpPr>
          <p:cNvPr id="232" name="Google Shape;232;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pic>
        <p:nvPicPr>
          <p:cNvPr id="233" name="Google Shape;233;p25" title="Capture d'écran 2025-12-17 145528.png"/>
          <p:cNvPicPr preferRelativeResize="0"/>
          <p:nvPr/>
        </p:nvPicPr>
        <p:blipFill>
          <a:blip r:embed="rId4">
            <a:alphaModFix/>
          </a:blip>
          <a:stretch>
            <a:fillRect/>
          </a:stretch>
        </p:blipFill>
        <p:spPr>
          <a:xfrm>
            <a:off x="5667024" y="1214525"/>
            <a:ext cx="2213075" cy="1645200"/>
          </a:xfrm>
          <a:prstGeom prst="rect">
            <a:avLst/>
          </a:prstGeom>
          <a:noFill/>
          <a:ln>
            <a:noFill/>
          </a:ln>
        </p:spPr>
      </p:pic>
      <p:pic>
        <p:nvPicPr>
          <p:cNvPr id="234" name="Google Shape;234;p25" title="Capture d'écran 2025-12-17 145510.png"/>
          <p:cNvPicPr preferRelativeResize="0"/>
          <p:nvPr/>
        </p:nvPicPr>
        <p:blipFill>
          <a:blip r:embed="rId5">
            <a:alphaModFix/>
          </a:blip>
          <a:stretch>
            <a:fillRect/>
          </a:stretch>
        </p:blipFill>
        <p:spPr>
          <a:xfrm>
            <a:off x="3601550" y="1214525"/>
            <a:ext cx="1940875" cy="2181900"/>
          </a:xfrm>
          <a:prstGeom prst="rect">
            <a:avLst/>
          </a:prstGeom>
          <a:noFill/>
          <a:ln>
            <a:noFill/>
          </a:ln>
        </p:spPr>
      </p:pic>
      <p:pic>
        <p:nvPicPr>
          <p:cNvPr id="235" name="Google Shape;235;p25" title="Capture d'écran 2025-12-17 145455.png"/>
          <p:cNvPicPr preferRelativeResize="0"/>
          <p:nvPr/>
        </p:nvPicPr>
        <p:blipFill>
          <a:blip r:embed="rId6">
            <a:alphaModFix/>
          </a:blip>
          <a:stretch>
            <a:fillRect/>
          </a:stretch>
        </p:blipFill>
        <p:spPr>
          <a:xfrm>
            <a:off x="3794075" y="3643700"/>
            <a:ext cx="2367475" cy="1227325"/>
          </a:xfrm>
          <a:prstGeom prst="rect">
            <a:avLst/>
          </a:prstGeom>
          <a:noFill/>
          <a:ln>
            <a:noFill/>
          </a:ln>
        </p:spPr>
      </p:pic>
      <p:pic>
        <p:nvPicPr>
          <p:cNvPr id="236" name="Google Shape;236;p25" title="Capture d'écran 2025-12-17 145408.png"/>
          <p:cNvPicPr preferRelativeResize="0"/>
          <p:nvPr/>
        </p:nvPicPr>
        <p:blipFill>
          <a:blip r:embed="rId7">
            <a:alphaModFix/>
          </a:blip>
          <a:stretch>
            <a:fillRect/>
          </a:stretch>
        </p:blipFill>
        <p:spPr>
          <a:xfrm>
            <a:off x="1067263" y="3220926"/>
            <a:ext cx="2149875" cy="1747075"/>
          </a:xfrm>
          <a:prstGeom prst="rect">
            <a:avLst/>
          </a:prstGeom>
          <a:noFill/>
          <a:ln>
            <a:noFill/>
          </a:ln>
        </p:spPr>
      </p:pic>
      <p:pic>
        <p:nvPicPr>
          <p:cNvPr id="237" name="Google Shape;237;p25" title="Capture d'écran 2025-12-17 145341.png"/>
          <p:cNvPicPr preferRelativeResize="0"/>
          <p:nvPr/>
        </p:nvPicPr>
        <p:blipFill>
          <a:blip r:embed="rId8">
            <a:alphaModFix/>
          </a:blip>
          <a:stretch>
            <a:fillRect/>
          </a:stretch>
        </p:blipFill>
        <p:spPr>
          <a:xfrm>
            <a:off x="6908900" y="3110600"/>
            <a:ext cx="971075" cy="533100"/>
          </a:xfrm>
          <a:prstGeom prst="rect">
            <a:avLst/>
          </a:prstGeom>
          <a:noFill/>
          <a:ln>
            <a:noFill/>
          </a:ln>
        </p:spPr>
      </p:pic>
      <p:pic>
        <p:nvPicPr>
          <p:cNvPr id="238" name="Google Shape;238;p25" title="Capture d'écran 2025-12-17 145330.png"/>
          <p:cNvPicPr preferRelativeResize="0"/>
          <p:nvPr/>
        </p:nvPicPr>
        <p:blipFill>
          <a:blip r:embed="rId9">
            <a:alphaModFix/>
          </a:blip>
          <a:stretch>
            <a:fillRect/>
          </a:stretch>
        </p:blipFill>
        <p:spPr>
          <a:xfrm>
            <a:off x="5667025" y="3110600"/>
            <a:ext cx="1111050" cy="533100"/>
          </a:xfrm>
          <a:prstGeom prst="rect">
            <a:avLst/>
          </a:prstGeom>
          <a:noFill/>
          <a:ln>
            <a:noFill/>
          </a:ln>
        </p:spPr>
      </p:pic>
      <p:pic>
        <p:nvPicPr>
          <p:cNvPr id="239" name="Google Shape;239;p25" title="médaille-olympiques.png"/>
          <p:cNvPicPr preferRelativeResize="0"/>
          <p:nvPr/>
        </p:nvPicPr>
        <p:blipFill>
          <a:blip r:embed="rId10">
            <a:alphaModFix/>
          </a:blip>
          <a:stretch>
            <a:fillRect/>
          </a:stretch>
        </p:blipFill>
        <p:spPr>
          <a:xfrm>
            <a:off x="8172925" y="0"/>
            <a:ext cx="971075" cy="727266"/>
          </a:xfrm>
          <a:prstGeom prst="rect">
            <a:avLst/>
          </a:prstGeom>
          <a:noFill/>
          <a:ln>
            <a:noFill/>
          </a:ln>
        </p:spPr>
      </p:pic>
      <p:sp>
        <p:nvSpPr>
          <p:cNvPr id="240" name="Google Shape;240;p25"/>
          <p:cNvSpPr/>
          <p:nvPr/>
        </p:nvSpPr>
        <p:spPr>
          <a:xfrm>
            <a:off x="1067275" y="77975"/>
            <a:ext cx="6812700" cy="649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800">
                <a:solidFill>
                  <a:srgbClr val="0E3449"/>
                </a:solidFill>
              </a:rPr>
              <a:t>Dopage et Tricherie :</a:t>
            </a:r>
            <a:endParaRPr b="1" sz="1800">
              <a:solidFill>
                <a:srgbClr val="0E3449"/>
              </a:solidFill>
            </a:endParaRPr>
          </a:p>
          <a:p>
            <a:pPr indent="0" lvl="0" marL="0" rtl="0" algn="ctr">
              <a:spcBef>
                <a:spcPts val="0"/>
              </a:spcBef>
              <a:spcAft>
                <a:spcPts val="0"/>
              </a:spcAft>
              <a:buNone/>
            </a:pPr>
            <a:r>
              <a:rPr b="1" lang="fr" sz="1800">
                <a:solidFill>
                  <a:srgbClr val="0E3449"/>
                </a:solidFill>
              </a:rPr>
              <a:t>Prise de conscience de l’impact géopolitique sur le sport</a:t>
            </a:r>
            <a:endParaRPr b="1" sz="1800">
              <a:solidFill>
                <a:srgbClr val="0E3449"/>
              </a:solidFill>
            </a:endParaRPr>
          </a:p>
        </p:txBody>
      </p:sp>
      <p:sp>
        <p:nvSpPr>
          <p:cNvPr id="241" name="Google Shape;241;p25"/>
          <p:cNvSpPr txBox="1"/>
          <p:nvPr/>
        </p:nvSpPr>
        <p:spPr>
          <a:xfrm>
            <a:off x="1067275" y="1394700"/>
            <a:ext cx="2461800" cy="1615500"/>
          </a:xfrm>
          <a:prstGeom prst="rect">
            <a:avLst/>
          </a:prstGeom>
          <a:noFill/>
          <a:ln>
            <a:noFill/>
          </a:ln>
        </p:spPr>
        <p:txBody>
          <a:bodyPr anchorCtr="0" anchor="t" bIns="91425" lIns="91425" spcFirstLastPara="1" rIns="91425" wrap="square" tIns="91425">
            <a:noAutofit/>
          </a:bodyPr>
          <a:lstStyle/>
          <a:p>
            <a:pPr indent="-304800" lvl="0" marL="457200" rtl="0" algn="just">
              <a:spcBef>
                <a:spcPts val="0"/>
              </a:spcBef>
              <a:spcAft>
                <a:spcPts val="0"/>
              </a:spcAft>
              <a:buClr>
                <a:schemeClr val="dk2"/>
              </a:buClr>
              <a:buSzPts val="1200"/>
              <a:buChar char="-"/>
            </a:pPr>
            <a:r>
              <a:rPr lang="fr" sz="1200">
                <a:solidFill>
                  <a:schemeClr val="dk2"/>
                </a:solidFill>
              </a:rPr>
              <a:t>une certaine répartition des médailles retirées par genre.</a:t>
            </a:r>
            <a:endParaRPr sz="1200">
              <a:solidFill>
                <a:schemeClr val="dk2"/>
              </a:solidFill>
            </a:endParaRPr>
          </a:p>
          <a:p>
            <a:pPr indent="0" lvl="0" marL="457200" rtl="0" algn="just">
              <a:spcBef>
                <a:spcPts val="0"/>
              </a:spcBef>
              <a:spcAft>
                <a:spcPts val="0"/>
              </a:spcAft>
              <a:buNone/>
            </a:pPr>
            <a:r>
              <a:t/>
            </a:r>
            <a:endParaRPr sz="1200">
              <a:solidFill>
                <a:schemeClr val="dk2"/>
              </a:solidFill>
            </a:endParaRPr>
          </a:p>
          <a:p>
            <a:pPr indent="-304800" lvl="0" marL="457200" rtl="0" algn="just">
              <a:spcBef>
                <a:spcPts val="0"/>
              </a:spcBef>
              <a:spcAft>
                <a:spcPts val="0"/>
              </a:spcAft>
              <a:buClr>
                <a:schemeClr val="dk2"/>
              </a:buClr>
              <a:buSzPts val="1200"/>
              <a:buChar char="-"/>
            </a:pPr>
            <a:r>
              <a:rPr lang="fr" sz="1200">
                <a:solidFill>
                  <a:schemeClr val="dk2"/>
                </a:solidFill>
              </a:rPr>
              <a:t>La Russie, un dopage d’Etat. </a:t>
            </a:r>
            <a:endParaRPr sz="12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26"/>
          <p:cNvPicPr preferRelativeResize="0"/>
          <p:nvPr/>
        </p:nvPicPr>
        <p:blipFill rotWithShape="1">
          <a:blip r:embed="rId3">
            <a:alphaModFix/>
          </a:blip>
          <a:srcRect b="0" l="0" r="0" t="0"/>
          <a:stretch/>
        </p:blipFill>
        <p:spPr>
          <a:xfrm>
            <a:off x="213300" y="183827"/>
            <a:ext cx="576900" cy="385904"/>
          </a:xfrm>
          <a:prstGeom prst="rect">
            <a:avLst/>
          </a:prstGeom>
          <a:noFill/>
          <a:ln>
            <a:noFill/>
          </a:ln>
        </p:spPr>
      </p:pic>
      <p:sp>
        <p:nvSpPr>
          <p:cNvPr id="247" name="Google Shape;247;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
        <p:nvSpPr>
          <p:cNvPr id="248" name="Google Shape;248;p26"/>
          <p:cNvSpPr/>
          <p:nvPr/>
        </p:nvSpPr>
        <p:spPr>
          <a:xfrm>
            <a:off x="990150" y="77975"/>
            <a:ext cx="7349700" cy="53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fr">
                <a:solidFill>
                  <a:schemeClr val="dk2"/>
                </a:solidFill>
              </a:rPr>
              <a:t>Conclusions </a:t>
            </a:r>
            <a:endParaRPr sz="1500"/>
          </a:p>
        </p:txBody>
      </p:sp>
      <p:sp>
        <p:nvSpPr>
          <p:cNvPr id="249" name="Google Shape;249;p26"/>
          <p:cNvSpPr/>
          <p:nvPr/>
        </p:nvSpPr>
        <p:spPr>
          <a:xfrm>
            <a:off x="990150" y="857250"/>
            <a:ext cx="7482300" cy="3880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26"/>
          <p:cNvSpPr txBox="1"/>
          <p:nvPr/>
        </p:nvSpPr>
        <p:spPr>
          <a:xfrm>
            <a:off x="1501850" y="1003450"/>
            <a:ext cx="6605400" cy="3659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fr" sz="1200">
                <a:solidFill>
                  <a:schemeClr val="dk2"/>
                </a:solidFill>
              </a:rPr>
              <a:t>Quelques chiffres ….. </a:t>
            </a:r>
            <a:endParaRPr b="1" sz="1200">
              <a:solidFill>
                <a:schemeClr val="dk2"/>
              </a:solidFill>
            </a:endParaRPr>
          </a:p>
          <a:p>
            <a:pPr indent="0" lvl="0" marL="457200" rtl="0" algn="just">
              <a:spcBef>
                <a:spcPts val="0"/>
              </a:spcBef>
              <a:spcAft>
                <a:spcPts val="0"/>
              </a:spcAft>
              <a:buNone/>
            </a:pPr>
            <a:r>
              <a:t/>
            </a:r>
            <a:endParaRPr sz="1200">
              <a:solidFill>
                <a:schemeClr val="dk2"/>
              </a:solidFill>
            </a:endParaRPr>
          </a:p>
          <a:p>
            <a:pPr indent="-304800" lvl="0" marL="457200" rtl="0" algn="just">
              <a:spcBef>
                <a:spcPts val="0"/>
              </a:spcBef>
              <a:spcAft>
                <a:spcPts val="0"/>
              </a:spcAft>
              <a:buClr>
                <a:schemeClr val="dk2"/>
              </a:buClr>
              <a:buSzPts val="1200"/>
              <a:buChar char="●"/>
            </a:pPr>
            <a:r>
              <a:rPr lang="fr" sz="1200">
                <a:solidFill>
                  <a:schemeClr val="dk2"/>
                </a:solidFill>
              </a:rPr>
              <a:t>12 000 000 ! Nombre de tickets vendus pour assister aux JO de Paris 2024 (Cérémonies et épreuves) </a:t>
            </a:r>
            <a:endParaRPr sz="1200">
              <a:solidFill>
                <a:schemeClr val="dk2"/>
              </a:solidFill>
              <a:highlight>
                <a:srgbClr val="EFEFEF"/>
              </a:highlight>
            </a:endParaRPr>
          </a:p>
          <a:p>
            <a:pPr indent="-304800" lvl="0" marL="457200" rtl="0" algn="just">
              <a:spcBef>
                <a:spcPts val="0"/>
              </a:spcBef>
              <a:spcAft>
                <a:spcPts val="0"/>
              </a:spcAft>
              <a:buClr>
                <a:schemeClr val="dk2"/>
              </a:buClr>
              <a:buSzPts val="1200"/>
              <a:buChar char="●"/>
            </a:pPr>
            <a:r>
              <a:rPr lang="fr" sz="1200">
                <a:solidFill>
                  <a:schemeClr val="dk2"/>
                </a:solidFill>
              </a:rPr>
              <a:t>Depuis 1960 l’organisation des JO ont connu un dépassement en moyenne de +150% (</a:t>
            </a:r>
            <a:r>
              <a:rPr b="1" lang="fr" sz="1200">
                <a:solidFill>
                  <a:schemeClr val="dk2"/>
                </a:solidFill>
              </a:rPr>
              <a:t>source CIO</a:t>
            </a:r>
            <a:r>
              <a:rPr lang="fr" sz="1200">
                <a:solidFill>
                  <a:schemeClr val="dk2"/>
                </a:solidFill>
              </a:rPr>
              <a:t>) avec des budget au-delà de 10 milliards depuis 2012 et un pic à + de 50 milliards pour Sotchi en 2014.</a:t>
            </a:r>
            <a:endParaRPr sz="1200">
              <a:solidFill>
                <a:schemeClr val="dk2"/>
              </a:solidFill>
            </a:endParaRPr>
          </a:p>
          <a:p>
            <a:pPr indent="-304800" lvl="0" marL="457200" rtl="0" algn="just">
              <a:spcBef>
                <a:spcPts val="0"/>
              </a:spcBef>
              <a:spcAft>
                <a:spcPts val="0"/>
              </a:spcAft>
              <a:buClr>
                <a:schemeClr val="dk2"/>
              </a:buClr>
              <a:buSzPts val="1200"/>
              <a:buChar char="●"/>
            </a:pPr>
            <a:r>
              <a:rPr lang="fr" sz="1200">
                <a:solidFill>
                  <a:schemeClr val="dk2"/>
                </a:solidFill>
              </a:rPr>
              <a:t>Une audience d’environ 5 milliards pour les JO de Paris 2024</a:t>
            </a:r>
            <a:endParaRPr sz="1200">
              <a:solidFill>
                <a:schemeClr val="dk2"/>
              </a:solidFill>
            </a:endParaRPr>
          </a:p>
          <a:p>
            <a:pPr indent="-304800" lvl="0" marL="457200" rtl="0" algn="just">
              <a:spcBef>
                <a:spcPts val="0"/>
              </a:spcBef>
              <a:spcAft>
                <a:spcPts val="0"/>
              </a:spcAft>
              <a:buClr>
                <a:schemeClr val="dk2"/>
              </a:buClr>
              <a:buSzPts val="1200"/>
              <a:buChar char="●"/>
            </a:pPr>
            <a:r>
              <a:rPr lang="fr" sz="1200">
                <a:solidFill>
                  <a:schemeClr val="dk2"/>
                </a:solidFill>
              </a:rPr>
              <a:t>L’Afrique est à ce jour l’unique continent à n’avoir jamais organisé d’Olympiades.</a:t>
            </a:r>
            <a:endParaRPr sz="1200">
              <a:solidFill>
                <a:schemeClr val="dk2"/>
              </a:solidFill>
            </a:endParaRPr>
          </a:p>
          <a:p>
            <a:pPr indent="0" lvl="0" marL="457200" rtl="0" algn="just">
              <a:spcBef>
                <a:spcPts val="0"/>
              </a:spcBef>
              <a:spcAft>
                <a:spcPts val="0"/>
              </a:spcAft>
              <a:buNone/>
            </a:pPr>
            <a:r>
              <a:t/>
            </a:r>
            <a:endParaRPr sz="1200">
              <a:solidFill>
                <a:schemeClr val="dk2"/>
              </a:solidFill>
            </a:endParaRPr>
          </a:p>
          <a:p>
            <a:pPr indent="0" lvl="0" marL="0" rtl="0" algn="just">
              <a:spcBef>
                <a:spcPts val="0"/>
              </a:spcBef>
              <a:spcAft>
                <a:spcPts val="0"/>
              </a:spcAft>
              <a:buNone/>
            </a:pPr>
            <a:r>
              <a:rPr b="1" lang="fr" sz="1200" u="sng">
                <a:solidFill>
                  <a:schemeClr val="dk2"/>
                </a:solidFill>
              </a:rPr>
              <a:t>Evolution possible du dashboard :</a:t>
            </a:r>
            <a:r>
              <a:rPr b="1" lang="fr" sz="1200">
                <a:solidFill>
                  <a:schemeClr val="dk2"/>
                </a:solidFill>
              </a:rPr>
              <a:t> </a:t>
            </a:r>
            <a:endParaRPr b="1" sz="1200">
              <a:solidFill>
                <a:schemeClr val="dk2"/>
              </a:solidFill>
            </a:endParaRPr>
          </a:p>
          <a:p>
            <a:pPr indent="0" lvl="0" marL="0" rtl="0" algn="just">
              <a:spcBef>
                <a:spcPts val="0"/>
              </a:spcBef>
              <a:spcAft>
                <a:spcPts val="0"/>
              </a:spcAft>
              <a:buNone/>
            </a:pPr>
            <a:r>
              <a:t/>
            </a:r>
            <a:endParaRPr sz="1200">
              <a:solidFill>
                <a:schemeClr val="dk2"/>
              </a:solidFill>
            </a:endParaRPr>
          </a:p>
          <a:p>
            <a:pPr indent="-304800" lvl="0" marL="457200" rtl="0" algn="just">
              <a:spcBef>
                <a:spcPts val="0"/>
              </a:spcBef>
              <a:spcAft>
                <a:spcPts val="0"/>
              </a:spcAft>
              <a:buClr>
                <a:schemeClr val="dk2"/>
              </a:buClr>
              <a:buSzPts val="1200"/>
              <a:buChar char="●"/>
            </a:pPr>
            <a:r>
              <a:rPr lang="fr" sz="1200">
                <a:solidFill>
                  <a:schemeClr val="dk2"/>
                </a:solidFill>
              </a:rPr>
              <a:t>Le Modèle de Revenus du CIO (Droits TV et Sponsoring) - 75% des revenus proviennent des droits de retransmission audiovisuelle entraînant une véritable dépendance.</a:t>
            </a:r>
            <a:endParaRPr sz="1200">
              <a:solidFill>
                <a:schemeClr val="dk2"/>
              </a:solidFill>
            </a:endParaRPr>
          </a:p>
          <a:p>
            <a:pPr indent="0" lvl="0" marL="457200" rtl="0" algn="just">
              <a:spcBef>
                <a:spcPts val="0"/>
              </a:spcBef>
              <a:spcAft>
                <a:spcPts val="0"/>
              </a:spcAft>
              <a:buNone/>
            </a:pPr>
            <a:r>
              <a:t/>
            </a:r>
            <a:endParaRPr sz="1200">
              <a:solidFill>
                <a:schemeClr val="dk2"/>
              </a:solidFill>
            </a:endParaRPr>
          </a:p>
          <a:p>
            <a:pPr indent="-304800" lvl="0" marL="457200" rtl="0" algn="just">
              <a:spcBef>
                <a:spcPts val="0"/>
              </a:spcBef>
              <a:spcAft>
                <a:spcPts val="0"/>
              </a:spcAft>
              <a:buClr>
                <a:schemeClr val="dk2"/>
              </a:buClr>
              <a:buSzPts val="1200"/>
              <a:buChar char="●"/>
            </a:pPr>
            <a:r>
              <a:rPr b="1" lang="fr" sz="1200">
                <a:solidFill>
                  <a:schemeClr val="dk1"/>
                </a:solidFill>
              </a:rPr>
              <a:t>Question financière :</a:t>
            </a:r>
            <a:r>
              <a:rPr lang="fr" sz="1200">
                <a:solidFill>
                  <a:schemeClr val="dk1"/>
                </a:solidFill>
              </a:rPr>
              <a:t> Quelle est la viabilité de ce modèle face à la montée des plateformes de streaming et au désintérêt relatif des jeunes générations pour la télévision linéaire ?</a:t>
            </a:r>
            <a:endParaRPr sz="1200">
              <a:solidFill>
                <a:schemeClr val="dk2"/>
              </a:solidFill>
            </a:endParaRPr>
          </a:p>
          <a:p>
            <a:pPr indent="0" lvl="0" marL="457200" rtl="0" algn="just">
              <a:spcBef>
                <a:spcPts val="0"/>
              </a:spcBef>
              <a:spcAft>
                <a:spcPts val="0"/>
              </a:spcAft>
              <a:buNone/>
            </a:pPr>
            <a:r>
              <a:t/>
            </a:r>
            <a:endParaRPr sz="1500">
              <a:solidFill>
                <a:schemeClr val="dk2"/>
              </a:solidFill>
              <a:highlight>
                <a:srgbClr val="EFEFEF"/>
              </a:highlight>
            </a:endParaRPr>
          </a:p>
          <a:p>
            <a:pPr indent="0" lvl="0" marL="457200" rtl="0" algn="just">
              <a:spcBef>
                <a:spcPts val="0"/>
              </a:spcBef>
              <a:spcAft>
                <a:spcPts val="0"/>
              </a:spcAft>
              <a:buNone/>
            </a:pPr>
            <a:r>
              <a:t/>
            </a:r>
            <a:endParaRPr sz="1500">
              <a:solidFill>
                <a:schemeClr val="dk2"/>
              </a:solidFill>
              <a:highlight>
                <a:srgbClr val="EFEFEF"/>
              </a:highlight>
            </a:endParaRPr>
          </a:p>
        </p:txBody>
      </p:sp>
      <p:sp>
        <p:nvSpPr>
          <p:cNvPr id="251" name="Google Shape;251;p26"/>
          <p:cNvSpPr/>
          <p:nvPr/>
        </p:nvSpPr>
        <p:spPr>
          <a:xfrm>
            <a:off x="990150" y="77975"/>
            <a:ext cx="7349700" cy="53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800">
                <a:solidFill>
                  <a:srgbClr val="0E3449"/>
                </a:solidFill>
              </a:rPr>
              <a:t>Conclusion et ouvertures possibles</a:t>
            </a:r>
            <a:endParaRPr b="1" sz="800"/>
          </a:p>
        </p:txBody>
      </p:sp>
      <p:pic>
        <p:nvPicPr>
          <p:cNvPr id="252" name="Google Shape;252;p26" title="2021_anneaux_olympiques_png_transparent_20210724_1834024954.png"/>
          <p:cNvPicPr preferRelativeResize="0"/>
          <p:nvPr/>
        </p:nvPicPr>
        <p:blipFill>
          <a:blip r:embed="rId4">
            <a:alphaModFix/>
          </a:blip>
          <a:stretch>
            <a:fillRect/>
          </a:stretch>
        </p:blipFill>
        <p:spPr>
          <a:xfrm>
            <a:off x="8299712" y="27926"/>
            <a:ext cx="894174" cy="63319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p27"/>
          <p:cNvPicPr preferRelativeResize="0"/>
          <p:nvPr/>
        </p:nvPicPr>
        <p:blipFill rotWithShape="1">
          <a:blip r:embed="rId3">
            <a:alphaModFix/>
          </a:blip>
          <a:srcRect b="0" l="0" r="0" t="0"/>
          <a:stretch/>
        </p:blipFill>
        <p:spPr>
          <a:xfrm>
            <a:off x="213300" y="183827"/>
            <a:ext cx="576900" cy="385904"/>
          </a:xfrm>
          <a:prstGeom prst="rect">
            <a:avLst/>
          </a:prstGeom>
          <a:noFill/>
          <a:ln>
            <a:noFill/>
          </a:ln>
        </p:spPr>
      </p:pic>
      <p:sp>
        <p:nvSpPr>
          <p:cNvPr id="258" name="Google Shape;258;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
        <p:nvSpPr>
          <p:cNvPr id="259" name="Google Shape;259;p27"/>
          <p:cNvSpPr/>
          <p:nvPr/>
        </p:nvSpPr>
        <p:spPr>
          <a:xfrm>
            <a:off x="990150" y="77975"/>
            <a:ext cx="7349700" cy="53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fr">
                <a:solidFill>
                  <a:schemeClr val="dk2"/>
                </a:solidFill>
              </a:rPr>
              <a:t>Conclusions </a:t>
            </a:r>
            <a:endParaRPr sz="1500"/>
          </a:p>
        </p:txBody>
      </p:sp>
      <p:sp>
        <p:nvSpPr>
          <p:cNvPr id="260" name="Google Shape;260;p27"/>
          <p:cNvSpPr/>
          <p:nvPr/>
        </p:nvSpPr>
        <p:spPr>
          <a:xfrm>
            <a:off x="990150" y="857250"/>
            <a:ext cx="7482300" cy="3880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27"/>
          <p:cNvSpPr/>
          <p:nvPr/>
        </p:nvSpPr>
        <p:spPr>
          <a:xfrm>
            <a:off x="990150" y="77975"/>
            <a:ext cx="7349700" cy="53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